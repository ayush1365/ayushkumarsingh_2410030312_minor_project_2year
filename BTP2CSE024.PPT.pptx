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304" r:id="rId2"/>
    <p:sldId id="288" r:id="rId3"/>
    <p:sldId id="289" r:id="rId4"/>
    <p:sldId id="290" r:id="rId5"/>
    <p:sldId id="292" r:id="rId6"/>
    <p:sldId id="293" r:id="rId7"/>
    <p:sldId id="294" r:id="rId8"/>
    <p:sldId id="295" r:id="rId9"/>
    <p:sldId id="296" r:id="rId10"/>
    <p:sldId id="297" r:id="rId11"/>
    <p:sldId id="298" r:id="rId12"/>
    <p:sldId id="299" r:id="rId13"/>
    <p:sldId id="300" r:id="rId14"/>
    <p:sldId id="301" r:id="rId15"/>
    <p:sldId id="302" r:id="rId16"/>
    <p:sldId id="303" r:id="rId17"/>
    <p:sldId id="286" r:id="rId18"/>
  </p:sldIdLst>
  <p:sldSz cx="12192000" cy="6858000"/>
  <p:notesSz cx="6858000" cy="9144000"/>
  <p:embeddedFontLst>
    <p:embeddedFont>
      <p:font typeface="Arial Black" panose="020B0A04020102020204" pitchFamily="34" charset="0"/>
      <p:bold r:id="rId20"/>
    </p:embeddedFont>
    <p:embeddedFont>
      <p:font typeface="Cambria Math" panose="02040503050406030204" pitchFamily="18" charset="0"/>
      <p:regular r:id="rId21"/>
    </p:embeddedFont>
    <p:embeddedFont>
      <p:font typeface="Dubai" panose="020B0503030403030204" pitchFamily="34" charset="-78"/>
      <p:regular r:id="rId22"/>
      <p:bold r:id="rId23"/>
    </p:embeddedFont>
    <p:embeddedFont>
      <p:font typeface="Dubai Medium" panose="020B0603030403030204" pitchFamily="34" charset="-78"/>
      <p:regular r:id="rId24"/>
    </p:embeddedFont>
    <p:embeddedFont>
      <p:font typeface="Franklin Gothic Demi" panose="020B0703020102020204" pitchFamily="34" charset="0"/>
      <p:regular r:id="rId25"/>
      <p:italic r:id="rId26"/>
    </p:embeddedFont>
    <p:embeddedFont>
      <p:font typeface="Montserrat Bold" panose="020B0604020202020204" charset="0"/>
      <p:bold r:id="rId27"/>
    </p:embeddedFont>
    <p:embeddedFont>
      <p:font typeface="Pinyon Script" panose="020B0604020202020204" charset="0"/>
      <p:regular r:id="rId28"/>
    </p:embeddedFont>
    <p:embeddedFont>
      <p:font typeface="Play" panose="020B0604020202020204" charset="0"/>
      <p:regular r:id="rId29"/>
      <p:bold r:id="rId30"/>
    </p:embeddedFont>
    <p:embeddedFont>
      <p:font typeface="Rockwell Extra Bold" panose="02060903040505020403" pitchFamily="18" charset="0"/>
      <p:bold r:id="rId31"/>
    </p:embeddedFont>
    <p:embeddedFont>
      <p:font typeface="Source Sans 3" panose="020B0604020202020204" charset="0"/>
      <p:regular r:id="rId32"/>
    </p:embeddedFont>
    <p:embeddedFont>
      <p:font typeface="Tahoma" panose="020B060403050404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UjLHjg5Ww669CzF2YAF6lFhFT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1F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AD7688-5C9B-4FBA-AFCD-16BD20B50B14}" v="13" dt="2026-05-05T12:27:50.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62" autoAdjust="0"/>
  </p:normalViewPr>
  <p:slideViewPr>
    <p:cSldViewPr snapToGrid="0">
      <p:cViewPr varScale="1">
        <p:scale>
          <a:sx n="59" d="100"/>
          <a:sy n="59" d="100"/>
        </p:scale>
        <p:origin x="9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43" Type="http://customschemas.google.com/relationships/presentationmetadata" Target="metadata"/><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4"/>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4"/>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34"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40"/>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73" name="Google Shape;73;p40"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a:spLocks noGrp="1"/>
          </p:cNvSpPr>
          <p:nvPr>
            <p:ph type="pic" idx="2"/>
          </p:nvPr>
        </p:nvSpPr>
        <p:spPr>
          <a:xfrm>
            <a:off x="5183188" y="987425"/>
            <a:ext cx="6172200" cy="4873625"/>
          </a:xfrm>
          <a:prstGeom prst="rect">
            <a:avLst/>
          </a:prstGeom>
          <a:noFill/>
          <a:ln>
            <a:noFill/>
          </a:ln>
        </p:spPr>
      </p:sp>
      <p:sp>
        <p:nvSpPr>
          <p:cNvPr id="77" name="Google Shape;77;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41"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4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2"/>
          <p:cNvSpPr txBox="1">
            <a:spLocks noGrp="1"/>
          </p:cNvSpPr>
          <p:nvPr>
            <p:ph type="body" idx="1"/>
          </p:nvPr>
        </p:nvSpPr>
        <p:spPr>
          <a:xfrm rot="5400000">
            <a:off x="4264182" y="-1130089"/>
            <a:ext cx="4058682" cy="109141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p42"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rot="5400000">
            <a:off x="7446169" y="2269331"/>
            <a:ext cx="51863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2112169" y="-283368"/>
            <a:ext cx="5186362"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5" name="Google Shape;95;p43"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2" descr="Top Private University in India | MBA, BBA, B.Tech ..."/>
          <p:cNvPicPr preferRelativeResize="0"/>
          <p:nvPr/>
        </p:nvPicPr>
        <p:blipFill rotWithShape="1">
          <a:blip r:embed="rId7">
            <a:alphaModFix/>
          </a:blip>
          <a:srcRect/>
          <a:stretch/>
        </p:blipFill>
        <p:spPr>
          <a:xfrm>
            <a:off x="144017" y="208994"/>
            <a:ext cx="2347573" cy="781607"/>
          </a:xfrm>
          <a:prstGeom prst="rect">
            <a:avLst/>
          </a:prstGeom>
          <a:noFill/>
          <a:ln>
            <a:noFill/>
          </a:ln>
        </p:spPr>
      </p:pic>
      <p:pic>
        <p:nvPicPr>
          <p:cNvPr id="16" name="Google Shape;16;p32"/>
          <p:cNvPicPr preferRelativeResize="0"/>
          <p:nvPr/>
        </p:nvPicPr>
        <p:blipFill rotWithShape="1">
          <a:blip r:embed="rId8">
            <a:alphaModFix amt="7000"/>
          </a:blip>
          <a:srcRect/>
          <a:stretch/>
        </p:blipFill>
        <p:spPr>
          <a:xfrm>
            <a:off x="1236794" y="2297668"/>
            <a:ext cx="9718411" cy="27211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6"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jpe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iciccc.in/"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E1E8C-FE7B-C31C-28DC-1506B7021F58}"/>
              </a:ext>
            </a:extLst>
          </p:cNvPr>
          <p:cNvSpPr>
            <a:spLocks noGrp="1"/>
          </p:cNvSpPr>
          <p:nvPr>
            <p:ph type="title"/>
          </p:nvPr>
        </p:nvSpPr>
        <p:spPr>
          <a:xfrm>
            <a:off x="836425" y="932659"/>
            <a:ext cx="10915969" cy="2226177"/>
          </a:xfrm>
        </p:spPr>
        <p:txBody>
          <a:bodyPr>
            <a:noAutofit/>
          </a:bodyPr>
          <a:lstStyle/>
          <a:p>
            <a:pPr algn="ctr"/>
            <a:r>
              <a:rPr lang="en-US" b="1" dirty="0">
                <a:latin typeface="Times New Roman"/>
                <a:ea typeface="Times New Roman"/>
                <a:cs typeface="Times New Roman"/>
                <a:sym typeface="Times New Roman"/>
              </a:rPr>
              <a:t>School of Computer Science and Engineering</a:t>
            </a:r>
            <a:br>
              <a:rPr lang="en-US" b="1" dirty="0">
                <a:latin typeface="Times New Roman"/>
                <a:ea typeface="Times New Roman"/>
                <a:cs typeface="Times New Roman"/>
                <a:sym typeface="Times New Roman"/>
              </a:rPr>
            </a:br>
            <a:r>
              <a:rPr lang="en-US" b="1" dirty="0" err="1">
                <a:latin typeface="Times New Roman"/>
                <a:ea typeface="Times New Roman"/>
                <a:cs typeface="Times New Roman"/>
                <a:sym typeface="Times New Roman"/>
              </a:rPr>
              <a:t>B.Tech</a:t>
            </a:r>
            <a:r>
              <a:rPr lang="en-US" b="1" dirty="0">
                <a:latin typeface="Times New Roman"/>
                <a:ea typeface="Times New Roman"/>
                <a:cs typeface="Times New Roman"/>
                <a:sym typeface="Times New Roman"/>
              </a:rPr>
              <a:t> (CSE) 4</a:t>
            </a:r>
            <a:r>
              <a:rPr lang="en-US" b="1" baseline="30000" dirty="0">
                <a:latin typeface="Times New Roman"/>
                <a:ea typeface="Times New Roman"/>
                <a:cs typeface="Times New Roman"/>
                <a:sym typeface="Times New Roman"/>
              </a:rPr>
              <a:t>th</a:t>
            </a:r>
            <a:r>
              <a:rPr lang="en-US" b="1" dirty="0">
                <a:latin typeface="Times New Roman"/>
                <a:ea typeface="Times New Roman"/>
                <a:cs typeface="Times New Roman"/>
                <a:sym typeface="Times New Roman"/>
              </a:rPr>
              <a:t> Semester</a:t>
            </a:r>
            <a:endParaRPr lang="en-IN" dirty="0"/>
          </a:p>
        </p:txBody>
      </p:sp>
      <p:sp>
        <p:nvSpPr>
          <p:cNvPr id="3" name="Text Placeholder 2">
            <a:extLst>
              <a:ext uri="{FF2B5EF4-FFF2-40B4-BE49-F238E27FC236}">
                <a16:creationId xmlns:a16="http://schemas.microsoft.com/office/drawing/2014/main" id="{CD75A1D5-C256-3E42-F335-F4A71CAC5BCA}"/>
              </a:ext>
            </a:extLst>
          </p:cNvPr>
          <p:cNvSpPr>
            <a:spLocks noGrp="1"/>
          </p:cNvSpPr>
          <p:nvPr>
            <p:ph type="body" idx="1"/>
          </p:nvPr>
        </p:nvSpPr>
        <p:spPr>
          <a:xfrm>
            <a:off x="836425" y="3158836"/>
            <a:ext cx="10915969" cy="1650671"/>
          </a:xfrm>
        </p:spPr>
        <p:txBody>
          <a:bodyPr>
            <a:normAutofit/>
          </a:bodyPr>
          <a:lstStyle/>
          <a:p>
            <a:pPr marL="0" indent="0" algn="ctr">
              <a:spcBef>
                <a:spcPts val="0"/>
              </a:spcBef>
              <a:buNone/>
            </a:pPr>
            <a:r>
              <a:rPr lang="en-US" b="1" dirty="0">
                <a:solidFill>
                  <a:schemeClr val="tx1"/>
                </a:solidFill>
                <a:latin typeface="Times New Roman"/>
                <a:ea typeface="Times New Roman"/>
                <a:cs typeface="Times New Roman"/>
                <a:sym typeface="Times New Roman"/>
              </a:rPr>
              <a:t>Project ID- </a:t>
            </a:r>
            <a:r>
              <a:rPr lang="en-US" b="1" dirty="0">
                <a:solidFill>
                  <a:srgbClr val="C00000"/>
                </a:solidFill>
                <a:latin typeface="Times New Roman"/>
                <a:ea typeface="Times New Roman"/>
                <a:cs typeface="Times New Roman"/>
                <a:sym typeface="Times New Roman"/>
              </a:rPr>
              <a:t>BTP2CSE024</a:t>
            </a:r>
          </a:p>
          <a:p>
            <a:pPr marL="0" indent="0" algn="ctr">
              <a:spcBef>
                <a:spcPts val="0"/>
              </a:spcBef>
              <a:buNone/>
            </a:pPr>
            <a:endParaRPr lang="en-US" sz="900" b="1" dirty="0">
              <a:solidFill>
                <a:srgbClr val="C00000"/>
              </a:solidFill>
              <a:latin typeface="Times New Roman"/>
              <a:ea typeface="Times New Roman"/>
              <a:cs typeface="Times New Roman"/>
              <a:sym typeface="Times New Roman"/>
            </a:endParaRPr>
          </a:p>
          <a:p>
            <a:pPr marL="0" indent="0" algn="ctr">
              <a:spcBef>
                <a:spcPts val="0"/>
              </a:spcBef>
              <a:buNone/>
            </a:pPr>
            <a:r>
              <a:rPr lang="en-US" b="1" dirty="0">
                <a:solidFill>
                  <a:schemeClr val="tx1"/>
                </a:solidFill>
                <a:latin typeface="Times New Roman"/>
                <a:ea typeface="Times New Roman"/>
                <a:cs typeface="Times New Roman"/>
                <a:sym typeface="Times New Roman"/>
              </a:rPr>
              <a:t>Project Title- </a:t>
            </a:r>
            <a:r>
              <a:rPr lang="en-US" b="1" dirty="0">
                <a:solidFill>
                  <a:srgbClr val="C00000"/>
                </a:solidFill>
                <a:latin typeface="Times New Roman" panose="02020603050405020304" pitchFamily="18" charset="0"/>
                <a:cs typeface="Times New Roman" panose="02020603050405020304" pitchFamily="18" charset="0"/>
              </a:rPr>
              <a:t>Comparative Analysis of Classical Image Enhancement Techniques For Low Contrast Images </a:t>
            </a:r>
          </a:p>
          <a:p>
            <a:pPr marL="0" indent="0" algn="ctr">
              <a:spcBef>
                <a:spcPts val="0"/>
              </a:spcBef>
              <a:buNone/>
            </a:pPr>
            <a:endParaRPr lang="en-IN" b="1" dirty="0">
              <a:solidFill>
                <a:srgbClr val="C00000"/>
              </a:solidFill>
              <a:latin typeface="Times New Roman" panose="02020603050405020304" pitchFamily="18" charset="0"/>
              <a:cs typeface="Times New Roman" panose="02020603050405020304" pitchFamily="18" charset="0"/>
            </a:endParaRPr>
          </a:p>
          <a:p>
            <a:pPr marL="0" indent="0" algn="ctr">
              <a:spcBef>
                <a:spcPts val="0"/>
              </a:spcBef>
              <a:buNone/>
            </a:pPr>
            <a:endParaRPr lang="en-US" b="1" dirty="0">
              <a:solidFill>
                <a:srgbClr val="9E0F00"/>
              </a:solidFill>
              <a:latin typeface="Times New Roman"/>
              <a:ea typeface="Times New Roman"/>
              <a:cs typeface="Times New Roman"/>
              <a:sym typeface="Times New Roman"/>
            </a:endParaRPr>
          </a:p>
          <a:p>
            <a:endParaRPr lang="en-IN" dirty="0"/>
          </a:p>
        </p:txBody>
      </p:sp>
      <p:sp>
        <p:nvSpPr>
          <p:cNvPr id="5" name="TextBox 4">
            <a:extLst>
              <a:ext uri="{FF2B5EF4-FFF2-40B4-BE49-F238E27FC236}">
                <a16:creationId xmlns:a16="http://schemas.microsoft.com/office/drawing/2014/main" id="{E67B8443-3179-F185-FCC6-C59B880300FF}"/>
              </a:ext>
            </a:extLst>
          </p:cNvPr>
          <p:cNvSpPr txBox="1"/>
          <p:nvPr/>
        </p:nvSpPr>
        <p:spPr>
          <a:xfrm>
            <a:off x="6436426" y="4737167"/>
            <a:ext cx="5593277" cy="1969770"/>
          </a:xfrm>
          <a:prstGeom prst="rect">
            <a:avLst/>
          </a:prstGeom>
          <a:noFill/>
        </p:spPr>
        <p:txBody>
          <a:bodyPr wrap="square" rtlCol="0">
            <a:spAutoFit/>
          </a:bodyPr>
          <a:lstStyle/>
          <a:p>
            <a:r>
              <a:rPr lang="en-US" sz="2000" b="1" dirty="0">
                <a:latin typeface="Times New Roman" panose="02020603050405020304" pitchFamily="18" charset="0"/>
                <a:ea typeface="Times New Roman"/>
                <a:cs typeface="Times New Roman" panose="02020603050405020304" pitchFamily="18" charset="0"/>
                <a:sym typeface="Times New Roman"/>
              </a:rPr>
              <a:t>Team Members- Ayush Kumar Singh </a:t>
            </a:r>
          </a:p>
          <a:p>
            <a:r>
              <a:rPr lang="en-US" sz="2000" b="1" dirty="0">
                <a:solidFill>
                  <a:srgbClr val="9E0F00"/>
                </a:solidFill>
                <a:latin typeface="Times New Roman" panose="02020603050405020304" pitchFamily="18" charset="0"/>
                <a:ea typeface="Times New Roman"/>
                <a:cs typeface="Times New Roman" panose="02020603050405020304" pitchFamily="18" charset="0"/>
                <a:sym typeface="Times New Roman"/>
              </a:rPr>
              <a:t>                              </a:t>
            </a:r>
            <a:r>
              <a:rPr lang="en-US" sz="2000" b="1" dirty="0">
                <a:latin typeface="Times New Roman" panose="02020603050405020304" pitchFamily="18" charset="0"/>
                <a:cs typeface="Times New Roman" panose="02020603050405020304" pitchFamily="18" charset="0"/>
              </a:rPr>
              <a:t>Harshita Shandilya</a:t>
            </a:r>
          </a:p>
          <a:p>
            <a:r>
              <a:rPr lang="en-US" sz="2000" b="1" dirty="0">
                <a:latin typeface="Times New Roman" panose="02020603050405020304" pitchFamily="18" charset="0"/>
                <a:cs typeface="Times New Roman" panose="02020603050405020304" pitchFamily="18" charset="0"/>
              </a:rPr>
              <a:t>                              Manish Kumar Jaiswal</a:t>
            </a:r>
            <a:endParaRPr lang="en-IN"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Prashant Kumar Yadav</a:t>
            </a:r>
            <a:endParaRPr lang="en-IN" sz="2000" b="1" dirty="0">
              <a:latin typeface="Times New Roman" panose="02020603050405020304" pitchFamily="18" charset="0"/>
              <a:cs typeface="Times New Roman" panose="02020603050405020304" pitchFamily="18" charset="0"/>
            </a:endParaRPr>
          </a:p>
          <a:p>
            <a:endParaRPr lang="en-IN" b="1" dirty="0"/>
          </a:p>
          <a:p>
            <a:endParaRPr lang="en-US" b="1" dirty="0">
              <a:solidFill>
                <a:srgbClr val="9E0F00"/>
              </a:solidFill>
              <a:latin typeface="Times New Roman"/>
              <a:ea typeface="Times New Roman"/>
              <a:cs typeface="Times New Roman"/>
              <a:sym typeface="Times New Roman"/>
            </a:endParaRPr>
          </a:p>
          <a:p>
            <a:endParaRPr lang="en-IN" dirty="0"/>
          </a:p>
        </p:txBody>
      </p:sp>
      <p:sp>
        <p:nvSpPr>
          <p:cNvPr id="6" name="TextBox 5">
            <a:extLst>
              <a:ext uri="{FF2B5EF4-FFF2-40B4-BE49-F238E27FC236}">
                <a16:creationId xmlns:a16="http://schemas.microsoft.com/office/drawing/2014/main" id="{2507DA96-896C-D2F6-01D4-ED54A57D5E23}"/>
              </a:ext>
            </a:extLst>
          </p:cNvPr>
          <p:cNvSpPr txBox="1"/>
          <p:nvPr/>
        </p:nvSpPr>
        <p:spPr>
          <a:xfrm>
            <a:off x="836425" y="4838857"/>
            <a:ext cx="3895107" cy="61555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Submitted To-  </a:t>
            </a:r>
            <a:r>
              <a:rPr lang="en-US" sz="2000" b="1" dirty="0" err="1">
                <a:latin typeface="Times New Roman" panose="02020603050405020304" pitchFamily="18" charset="0"/>
                <a:cs typeface="Times New Roman" panose="02020603050405020304" pitchFamily="18" charset="0"/>
              </a:rPr>
              <a:t>Mrs.Aanchal</a:t>
            </a:r>
            <a:r>
              <a:rPr lang="en-US" sz="2000" b="1" dirty="0">
                <a:latin typeface="Times New Roman" panose="02020603050405020304" pitchFamily="18" charset="0"/>
                <a:cs typeface="Times New Roman" panose="02020603050405020304" pitchFamily="18" charset="0"/>
              </a:rPr>
              <a:t> Vij</a:t>
            </a:r>
            <a:endParaRPr lang="en-IN" sz="20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61298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5ED9B-C381-40DB-FFF5-333493216BAF}"/>
              </a:ext>
            </a:extLst>
          </p:cNvPr>
          <p:cNvSpPr>
            <a:spLocks noGrp="1"/>
          </p:cNvSpPr>
          <p:nvPr>
            <p:ph type="title"/>
          </p:nvPr>
        </p:nvSpPr>
        <p:spPr>
          <a:xfrm>
            <a:off x="457201" y="501651"/>
            <a:ext cx="11295194" cy="1348414"/>
          </a:xfrm>
        </p:spPr>
        <p:txBody>
          <a:bodyPr>
            <a:noAutofit/>
          </a:bodyPr>
          <a:lstStyle/>
          <a:p>
            <a:br>
              <a:rPr lang="en-US" sz="4800" dirty="0"/>
            </a:br>
            <a:r>
              <a:rPr lang="en-US" sz="4800" b="1" dirty="0">
                <a:latin typeface="Times New Roman" panose="02020603050405020304" pitchFamily="18" charset="0"/>
                <a:cs typeface="Times New Roman" panose="02020603050405020304" pitchFamily="18" charset="0"/>
              </a:rPr>
              <a:t>Abstract</a:t>
            </a:r>
            <a:endParaRPr lang="en-IN" sz="4800" dirty="0"/>
          </a:p>
        </p:txBody>
      </p:sp>
      <p:sp>
        <p:nvSpPr>
          <p:cNvPr id="3" name="Text Placeholder 2">
            <a:extLst>
              <a:ext uri="{FF2B5EF4-FFF2-40B4-BE49-F238E27FC236}">
                <a16:creationId xmlns:a16="http://schemas.microsoft.com/office/drawing/2014/main" id="{7979CE50-D7EB-5865-C617-3B4E02F17EF4}"/>
              </a:ext>
            </a:extLst>
          </p:cNvPr>
          <p:cNvSpPr>
            <a:spLocks noGrp="1"/>
          </p:cNvSpPr>
          <p:nvPr>
            <p:ph type="body" idx="1"/>
          </p:nvPr>
        </p:nvSpPr>
        <p:spPr>
          <a:xfrm>
            <a:off x="297713" y="1850067"/>
            <a:ext cx="6411432" cy="2860156"/>
          </a:xfrm>
        </p:spPr>
        <p:txBody>
          <a:bodyPr>
            <a:noAutofit/>
          </a:bodyPr>
          <a:lstStyle/>
          <a:p>
            <a:pPr marL="114300" indent="0">
              <a:buNone/>
            </a:pPr>
            <a:r>
              <a:rPr lang="en-US" sz="2150" dirty="0">
                <a:solidFill>
                  <a:schemeClr val="tx1"/>
                </a:solidFill>
                <a:latin typeface="Times New Roman" panose="02020603050405020304" pitchFamily="18" charset="0"/>
                <a:ea typeface="Source Sans 3" pitchFamily="34" charset="-122"/>
                <a:cs typeface="Times New Roman" panose="02020603050405020304" pitchFamily="18" charset="0"/>
              </a:rPr>
              <a:t>Underwater images frequently suffer from severe quality degradation due to light absorption, scattering, suspended particles, and varying underwater conditions. These problems result in low contrast, color distortion, blur, reduced visibility, and loss of important image details negatively affecting marine exploration, underwater surveillance, object detection, and scientific analysis</a:t>
            </a:r>
            <a:endParaRPr lang="en-IN" sz="2150" dirty="0">
              <a:solidFill>
                <a:schemeClr val="tx1"/>
              </a:solidFill>
              <a:latin typeface="Times New Roman" panose="02020603050405020304" pitchFamily="18" charset="0"/>
              <a:cs typeface="Times New Roman" panose="02020603050405020304" pitchFamily="18" charset="0"/>
            </a:endParaRPr>
          </a:p>
        </p:txBody>
      </p:sp>
      <p:pic>
        <p:nvPicPr>
          <p:cNvPr id="7" name="Image 3">
            <a:extLst>
              <a:ext uri="{FF2B5EF4-FFF2-40B4-BE49-F238E27FC236}">
                <a16:creationId xmlns:a16="http://schemas.microsoft.com/office/drawing/2014/main" id="{70E8EF19-5D13-C9A4-4A1C-8C4692D756BB}"/>
              </a:ext>
            </a:extLst>
          </p:cNvPr>
          <p:cNvPicPr>
            <a:picLocks/>
          </p:cNvPicPr>
          <p:nvPr/>
        </p:nvPicPr>
        <p:blipFill>
          <a:blip r:embed="rId2" cstate="print"/>
          <a:stretch>
            <a:fillRect/>
          </a:stretch>
        </p:blipFill>
        <p:spPr>
          <a:xfrm>
            <a:off x="6893443" y="1297172"/>
            <a:ext cx="4727943" cy="3327990"/>
          </a:xfrm>
          <a:prstGeom prst="rect">
            <a:avLst/>
          </a:prstGeom>
        </p:spPr>
      </p:pic>
      <p:sp>
        <p:nvSpPr>
          <p:cNvPr id="10" name="TextBox 9">
            <a:extLst>
              <a:ext uri="{FF2B5EF4-FFF2-40B4-BE49-F238E27FC236}">
                <a16:creationId xmlns:a16="http://schemas.microsoft.com/office/drawing/2014/main" id="{400F5929-37FF-BCC8-D52C-AB771EC09F5D}"/>
              </a:ext>
            </a:extLst>
          </p:cNvPr>
          <p:cNvSpPr txBox="1"/>
          <p:nvPr/>
        </p:nvSpPr>
        <p:spPr>
          <a:xfrm>
            <a:off x="166704" y="4433777"/>
            <a:ext cx="3533424" cy="1877437"/>
          </a:xfrm>
          <a:prstGeom prst="rect">
            <a:avLst/>
          </a:prstGeom>
          <a:noFill/>
        </p:spPr>
        <p:txBody>
          <a:bodyPr wrap="square" rtlCol="0">
            <a:spAutoFit/>
          </a:bodyPr>
          <a:lstStyle/>
          <a:p>
            <a:endParaRPr lang="en-US" dirty="0">
              <a:solidFill>
                <a:schemeClr val="tx1"/>
              </a:solidFill>
              <a:latin typeface="Franklin Gothic Demi" panose="020B0703020102020204" pitchFamily="34" charset="0"/>
              <a:ea typeface="Montserrat Bold" pitchFamily="34" charset="-122"/>
              <a:cs typeface="Montserrat Bold" pitchFamily="34" charset="-120"/>
            </a:endParaRPr>
          </a:p>
          <a:p>
            <a:endParaRPr lang="en-US" dirty="0">
              <a:solidFill>
                <a:schemeClr val="tx1"/>
              </a:solidFill>
              <a:latin typeface="Franklin Gothic Demi" panose="020B0703020102020204" pitchFamily="34" charset="0"/>
              <a:ea typeface="Montserrat Bold" pitchFamily="34" charset="-122"/>
              <a:cs typeface="Montserrat Bold" pitchFamily="34" charset="-120"/>
            </a:endParaRPr>
          </a:p>
          <a:p>
            <a:r>
              <a:rPr lang="en-US" sz="2400" b="1" dirty="0">
                <a:solidFill>
                  <a:schemeClr val="tx1"/>
                </a:solidFill>
                <a:latin typeface="Franklin Gothic Demi" panose="020B0703020102020204" pitchFamily="34" charset="0"/>
                <a:ea typeface="Montserrat Bold" pitchFamily="34" charset="-122"/>
                <a:cs typeface="Montserrat Bold" pitchFamily="34" charset="-120"/>
              </a:rPr>
              <a:t>Color Correction</a:t>
            </a: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Restore natural underwater colors through multichannel compensation</a:t>
            </a:r>
            <a:endParaRPr lang="en-US" sz="18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Arial Black" panose="020B0A04020102020204" pitchFamily="34" charset="0"/>
            </a:endParaRPr>
          </a:p>
          <a:p>
            <a:endParaRPr lang="en-IN" dirty="0"/>
          </a:p>
        </p:txBody>
      </p:sp>
      <p:sp>
        <p:nvSpPr>
          <p:cNvPr id="13" name="TextBox 12">
            <a:extLst>
              <a:ext uri="{FF2B5EF4-FFF2-40B4-BE49-F238E27FC236}">
                <a16:creationId xmlns:a16="http://schemas.microsoft.com/office/drawing/2014/main" id="{B209E013-44C7-1181-85EE-56C81546E928}"/>
              </a:ext>
            </a:extLst>
          </p:cNvPr>
          <p:cNvSpPr txBox="1"/>
          <p:nvPr/>
        </p:nvSpPr>
        <p:spPr>
          <a:xfrm>
            <a:off x="3997840" y="4837814"/>
            <a:ext cx="3742662" cy="1446550"/>
          </a:xfrm>
          <a:prstGeom prst="rect">
            <a:avLst/>
          </a:prstGeom>
          <a:noFill/>
        </p:spPr>
        <p:txBody>
          <a:bodyPr wrap="square" rtlCol="0">
            <a:spAutoFit/>
          </a:bodyPr>
          <a:lstStyle/>
          <a:p>
            <a:r>
              <a:rPr lang="en-US" sz="2400" b="1" dirty="0">
                <a:solidFill>
                  <a:schemeClr val="tx1"/>
                </a:solidFill>
                <a:latin typeface="Franklin Gothic Demi" panose="020B0703020102020204" pitchFamily="34" charset="0"/>
                <a:ea typeface="Montserrat Bold" pitchFamily="34" charset="-122"/>
                <a:cs typeface="Montserrat Bold" pitchFamily="34" charset="-120"/>
              </a:rPr>
              <a:t>Detail Sharpening</a:t>
            </a: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Enhance edges and structural visibility using advanced filtering</a:t>
            </a:r>
            <a:endParaRPr lang="en-US" sz="1800"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endParaRPr>
          </a:p>
          <a:p>
            <a:endParaRPr lang="en-IN" dirty="0"/>
          </a:p>
        </p:txBody>
      </p:sp>
      <p:sp>
        <p:nvSpPr>
          <p:cNvPr id="14" name="TextBox 13">
            <a:extLst>
              <a:ext uri="{FF2B5EF4-FFF2-40B4-BE49-F238E27FC236}">
                <a16:creationId xmlns:a16="http://schemas.microsoft.com/office/drawing/2014/main" id="{16E5A813-B9B7-8258-B78F-54FB21253200}"/>
              </a:ext>
            </a:extLst>
          </p:cNvPr>
          <p:cNvSpPr txBox="1"/>
          <p:nvPr/>
        </p:nvSpPr>
        <p:spPr>
          <a:xfrm>
            <a:off x="8038214" y="4837814"/>
            <a:ext cx="3583172" cy="1446550"/>
          </a:xfrm>
          <a:prstGeom prst="rect">
            <a:avLst/>
          </a:prstGeom>
          <a:noFill/>
        </p:spPr>
        <p:txBody>
          <a:bodyPr wrap="square" rtlCol="0">
            <a:spAutoFit/>
          </a:bodyPr>
          <a:lstStyle/>
          <a:p>
            <a:r>
              <a:rPr lang="en-US" sz="2400" b="1" dirty="0">
                <a:solidFill>
                  <a:schemeClr val="tx1"/>
                </a:solidFill>
                <a:latin typeface="Franklin Gothic Demi" panose="020B0703020102020204" pitchFamily="34" charset="0"/>
                <a:ea typeface="Montserrat Bold"/>
                <a:cs typeface="Montserrat Bold" pitchFamily="34" charset="-120"/>
              </a:rPr>
              <a:t>Contrast Enhancement</a:t>
            </a: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Improve local and global contrast through </a:t>
            </a:r>
            <a:r>
              <a:rPr lang="en-US" sz="1800" dirty="0" err="1">
                <a:solidFill>
                  <a:schemeClr val="tx1"/>
                </a:solidFill>
                <a:latin typeface="Times New Roman" panose="02020603050405020304" pitchFamily="18" charset="0"/>
                <a:ea typeface="Source Sans 3" pitchFamily="34" charset="-122"/>
                <a:cs typeface="Times New Roman" panose="02020603050405020304" pitchFamily="18" charset="0"/>
              </a:rPr>
              <a:t>Clahe</a:t>
            </a: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 and </a:t>
            </a:r>
            <a:r>
              <a:rPr lang="en-US" sz="1800" dirty="0" err="1">
                <a:solidFill>
                  <a:schemeClr val="tx1"/>
                </a:solidFill>
                <a:latin typeface="Times New Roman" panose="02020603050405020304" pitchFamily="18" charset="0"/>
                <a:ea typeface="Source Sans 3" pitchFamily="34" charset="-122"/>
                <a:cs typeface="Times New Roman" panose="02020603050405020304" pitchFamily="18" charset="0"/>
              </a:rPr>
              <a:t>Retinex</a:t>
            </a: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 methods</a:t>
            </a:r>
            <a:endParaRPr lang="en-US" sz="18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IN" dirty="0"/>
          </a:p>
        </p:txBody>
      </p:sp>
    </p:spTree>
    <p:extLst>
      <p:ext uri="{BB962C8B-B14F-4D97-AF65-F5344CB8AC3E}">
        <p14:creationId xmlns:p14="http://schemas.microsoft.com/office/powerpoint/2010/main" val="2826084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C1E25-33A7-8266-A477-DC1F00543153}"/>
              </a:ext>
            </a:extLst>
          </p:cNvPr>
          <p:cNvSpPr>
            <a:spLocks noGrp="1"/>
          </p:cNvSpPr>
          <p:nvPr>
            <p:ph type="title"/>
          </p:nvPr>
        </p:nvSpPr>
        <p:spPr>
          <a:xfrm>
            <a:off x="287079" y="932659"/>
            <a:ext cx="11465315" cy="1119425"/>
          </a:xfrm>
        </p:spPr>
        <p:txBody>
          <a:bodyPr>
            <a:normAutofit fontScale="90000"/>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Introduction &amp; Challenges in Underwater Imaging</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0D915E0-892B-421D-19F2-44BDB5A88366}"/>
              </a:ext>
            </a:extLst>
          </p:cNvPr>
          <p:cNvSpPr>
            <a:spLocks noGrp="1"/>
          </p:cNvSpPr>
          <p:nvPr>
            <p:ph type="body" idx="1"/>
          </p:nvPr>
        </p:nvSpPr>
        <p:spPr>
          <a:xfrm>
            <a:off x="287079" y="1616149"/>
            <a:ext cx="11463541" cy="1531089"/>
          </a:xfrm>
        </p:spPr>
        <p:txBody>
          <a:bodyPr/>
          <a:lstStyle/>
          <a:p>
            <a:pPr marL="114300" indent="0">
              <a:buNone/>
            </a:pPr>
            <a:r>
              <a:rPr lang="en-US" sz="215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Underwater imaging is critical for marine biology, underwater robotics, ocean resource exploration, surveillance systems, archaeological exploration, and environmental monitoring. However, seawater significantly affects light propagation, creating unique imaging challenges.</a:t>
            </a:r>
          </a:p>
          <a:p>
            <a:endParaRPr lang="en-IN" dirty="0"/>
          </a:p>
        </p:txBody>
      </p:sp>
      <p:graphicFrame>
        <p:nvGraphicFramePr>
          <p:cNvPr id="4" name="Table 3">
            <a:extLst>
              <a:ext uri="{FF2B5EF4-FFF2-40B4-BE49-F238E27FC236}">
                <a16:creationId xmlns:a16="http://schemas.microsoft.com/office/drawing/2014/main" id="{54B529BF-C81A-7DED-5209-C0C9D29BDB43}"/>
              </a:ext>
            </a:extLst>
          </p:cNvPr>
          <p:cNvGraphicFramePr>
            <a:graphicFrameLocks noGrp="1"/>
          </p:cNvGraphicFramePr>
          <p:nvPr>
            <p:extLst>
              <p:ext uri="{D42A27DB-BD31-4B8C-83A1-F6EECF244321}">
                <p14:modId xmlns:p14="http://schemas.microsoft.com/office/powerpoint/2010/main" val="1618540979"/>
              </p:ext>
            </p:extLst>
          </p:nvPr>
        </p:nvGraphicFramePr>
        <p:xfrm>
          <a:off x="287079" y="2968420"/>
          <a:ext cx="3955312" cy="1714160"/>
        </p:xfrm>
        <a:graphic>
          <a:graphicData uri="http://schemas.openxmlformats.org/drawingml/2006/table">
            <a:tbl>
              <a:tblPr firstRow="1" bandRow="1">
                <a:tableStyleId>{B301B821-A1FF-4177-AEE7-76D212191A09}</a:tableStyleId>
              </a:tblPr>
              <a:tblGrid>
                <a:gridCol w="3955312">
                  <a:extLst>
                    <a:ext uri="{9D8B030D-6E8A-4147-A177-3AD203B41FA5}">
                      <a16:colId xmlns:a16="http://schemas.microsoft.com/office/drawing/2014/main" val="3558963702"/>
                    </a:ext>
                  </a:extLst>
                </a:gridCol>
              </a:tblGrid>
              <a:tr h="50237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chemeClr val="bg1"/>
                          </a:solidFill>
                        </a:rPr>
                        <a:t>Light Absorption</a:t>
                      </a:r>
                    </a:p>
                    <a:p>
                      <a:endParaRPr lang="en-IN" dirty="0"/>
                    </a:p>
                  </a:txBody>
                  <a:tcPr/>
                </a:tc>
                <a:extLst>
                  <a:ext uri="{0D108BD9-81ED-4DB2-BD59-A6C34878D82A}">
                    <a16:rowId xmlns:a16="http://schemas.microsoft.com/office/drawing/2014/main" val="3455393593"/>
                  </a:ext>
                </a:extLst>
              </a:tr>
              <a:tr h="1135040">
                <a:tc>
                  <a:txBody>
                    <a:bodyPr/>
                    <a:lstStyle/>
                    <a:p>
                      <a:r>
                        <a:rPr lang="en-US" sz="1600" b="0" dirty="0">
                          <a:solidFill>
                            <a:schemeClr val="tx1"/>
                          </a:solidFill>
                        </a:rPr>
                        <a:t>Water absorbs light wavelengths unevenly. Red light disappears first, causing bluish or greenish color casts in images</a:t>
                      </a:r>
                      <a:endParaRPr lang="en-IN" sz="1600" b="0" dirty="0">
                        <a:solidFill>
                          <a:schemeClr val="tx1"/>
                        </a:solidFill>
                      </a:endParaRPr>
                    </a:p>
                  </a:txBody>
                  <a:tcPr/>
                </a:tc>
                <a:extLst>
                  <a:ext uri="{0D108BD9-81ED-4DB2-BD59-A6C34878D82A}">
                    <a16:rowId xmlns:a16="http://schemas.microsoft.com/office/drawing/2014/main" val="1424830898"/>
                  </a:ext>
                </a:extLst>
              </a:tr>
            </a:tbl>
          </a:graphicData>
        </a:graphic>
      </p:graphicFrame>
      <p:graphicFrame>
        <p:nvGraphicFramePr>
          <p:cNvPr id="5" name="Table 4">
            <a:extLst>
              <a:ext uri="{FF2B5EF4-FFF2-40B4-BE49-F238E27FC236}">
                <a16:creationId xmlns:a16="http://schemas.microsoft.com/office/drawing/2014/main" id="{55D52BA7-0E42-8A09-FCBC-6F170D7EA702}"/>
              </a:ext>
            </a:extLst>
          </p:cNvPr>
          <p:cNvGraphicFramePr>
            <a:graphicFrameLocks noGrp="1"/>
          </p:cNvGraphicFramePr>
          <p:nvPr>
            <p:extLst>
              <p:ext uri="{D42A27DB-BD31-4B8C-83A1-F6EECF244321}">
                <p14:modId xmlns:p14="http://schemas.microsoft.com/office/powerpoint/2010/main" val="1163713776"/>
              </p:ext>
            </p:extLst>
          </p:nvPr>
        </p:nvGraphicFramePr>
        <p:xfrm>
          <a:off x="4418418" y="2968419"/>
          <a:ext cx="3694224" cy="1789350"/>
        </p:xfrm>
        <a:graphic>
          <a:graphicData uri="http://schemas.openxmlformats.org/drawingml/2006/table">
            <a:tbl>
              <a:tblPr firstRow="1" bandRow="1">
                <a:tableStyleId>{5C22544A-7EE6-4342-B048-85BDC9FD1C3A}</a:tableStyleId>
              </a:tblPr>
              <a:tblGrid>
                <a:gridCol w="3694224">
                  <a:extLst>
                    <a:ext uri="{9D8B030D-6E8A-4147-A177-3AD203B41FA5}">
                      <a16:colId xmlns:a16="http://schemas.microsoft.com/office/drawing/2014/main" val="2450488660"/>
                    </a:ext>
                  </a:extLst>
                </a:gridCol>
              </a:tblGrid>
              <a:tr h="50161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rgbClr val="E2E6E9"/>
                          </a:solidFill>
                        </a:rPr>
                        <a:t>Light Scattering</a:t>
                      </a:r>
                      <a:endParaRPr lang="en-US" sz="1800" dirty="0"/>
                    </a:p>
                    <a:p>
                      <a:endParaRPr lang="en-IN" dirty="0"/>
                    </a:p>
                  </a:txBody>
                  <a:tcPr/>
                </a:tc>
                <a:extLst>
                  <a:ext uri="{0D108BD9-81ED-4DB2-BD59-A6C34878D82A}">
                    <a16:rowId xmlns:a16="http://schemas.microsoft.com/office/drawing/2014/main" val="3032094440"/>
                  </a:ext>
                </a:extLst>
              </a:tr>
              <a:tr h="12102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tx1"/>
                          </a:solidFill>
                        </a:rPr>
                        <a:t>Suspended particles scatter light and reduce visibility, causing haze and blur effects that degrade image quality.</a:t>
                      </a:r>
                    </a:p>
                    <a:p>
                      <a:endParaRPr lang="en-IN" dirty="0"/>
                    </a:p>
                  </a:txBody>
                  <a:tcPr/>
                </a:tc>
                <a:extLst>
                  <a:ext uri="{0D108BD9-81ED-4DB2-BD59-A6C34878D82A}">
                    <a16:rowId xmlns:a16="http://schemas.microsoft.com/office/drawing/2014/main" val="1293648649"/>
                  </a:ext>
                </a:extLst>
              </a:tr>
            </a:tbl>
          </a:graphicData>
        </a:graphic>
      </p:graphicFrame>
      <p:graphicFrame>
        <p:nvGraphicFramePr>
          <p:cNvPr id="6" name="Table 5">
            <a:extLst>
              <a:ext uri="{FF2B5EF4-FFF2-40B4-BE49-F238E27FC236}">
                <a16:creationId xmlns:a16="http://schemas.microsoft.com/office/drawing/2014/main" id="{AFF5D551-73FD-0A74-F667-4F5B22153A72}"/>
              </a:ext>
            </a:extLst>
          </p:cNvPr>
          <p:cNvGraphicFramePr>
            <a:graphicFrameLocks noGrp="1"/>
          </p:cNvGraphicFramePr>
          <p:nvPr>
            <p:extLst>
              <p:ext uri="{D42A27DB-BD31-4B8C-83A1-F6EECF244321}">
                <p14:modId xmlns:p14="http://schemas.microsoft.com/office/powerpoint/2010/main" val="2544700263"/>
              </p:ext>
            </p:extLst>
          </p:nvPr>
        </p:nvGraphicFramePr>
        <p:xfrm>
          <a:off x="8288669" y="2968420"/>
          <a:ext cx="3616252" cy="1773279"/>
        </p:xfrm>
        <a:graphic>
          <a:graphicData uri="http://schemas.openxmlformats.org/drawingml/2006/table">
            <a:tbl>
              <a:tblPr firstRow="1" bandRow="1">
                <a:tableStyleId>{5C22544A-7EE6-4342-B048-85BDC9FD1C3A}</a:tableStyleId>
              </a:tblPr>
              <a:tblGrid>
                <a:gridCol w="3616252">
                  <a:extLst>
                    <a:ext uri="{9D8B030D-6E8A-4147-A177-3AD203B41FA5}">
                      <a16:colId xmlns:a16="http://schemas.microsoft.com/office/drawing/2014/main" val="886906402"/>
                    </a:ext>
                  </a:extLst>
                </a:gridCol>
              </a:tblGrid>
              <a:tr h="5342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rgbClr val="E2E6E9"/>
                          </a:solidFill>
                          <a:latin typeface="Montserrat Bold" pitchFamily="34" charset="0"/>
                          <a:ea typeface="Montserrat Bold" pitchFamily="34" charset="-122"/>
                          <a:cs typeface="Montserrat Bold" pitchFamily="34" charset="-120"/>
                        </a:rPr>
                        <a:t>Low Contrast</a:t>
                      </a:r>
                      <a:endParaRPr lang="en-US" sz="1800" dirty="0"/>
                    </a:p>
                    <a:p>
                      <a:endParaRPr lang="en-IN" dirty="0"/>
                    </a:p>
                  </a:txBody>
                  <a:tcPr/>
                </a:tc>
                <a:extLst>
                  <a:ext uri="{0D108BD9-81ED-4DB2-BD59-A6C34878D82A}">
                    <a16:rowId xmlns:a16="http://schemas.microsoft.com/office/drawing/2014/main" val="2428585997"/>
                  </a:ext>
                </a:extLst>
              </a:tr>
              <a:tr h="119415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tx1"/>
                          </a:solidFill>
                          <a:latin typeface="Source Sans 3" pitchFamily="34" charset="0"/>
                          <a:ea typeface="Source Sans 3" pitchFamily="34" charset="-122"/>
                          <a:cs typeface="Source Sans 3" pitchFamily="34" charset="-120"/>
                        </a:rPr>
                        <a:t>Intensity values become compressed, making objects difficult to distinguish and reducing image clarity.</a:t>
                      </a:r>
                      <a:endParaRPr lang="en-US" sz="1600" dirty="0">
                        <a:solidFill>
                          <a:schemeClr val="tx1"/>
                        </a:solidFill>
                      </a:endParaRPr>
                    </a:p>
                    <a:p>
                      <a:endParaRPr lang="en-IN" dirty="0"/>
                    </a:p>
                  </a:txBody>
                  <a:tcPr/>
                </a:tc>
                <a:extLst>
                  <a:ext uri="{0D108BD9-81ED-4DB2-BD59-A6C34878D82A}">
                    <a16:rowId xmlns:a16="http://schemas.microsoft.com/office/drawing/2014/main" val="4135603062"/>
                  </a:ext>
                </a:extLst>
              </a:tr>
            </a:tbl>
          </a:graphicData>
        </a:graphic>
      </p:graphicFrame>
      <p:graphicFrame>
        <p:nvGraphicFramePr>
          <p:cNvPr id="7" name="Table 6">
            <a:extLst>
              <a:ext uri="{FF2B5EF4-FFF2-40B4-BE49-F238E27FC236}">
                <a16:creationId xmlns:a16="http://schemas.microsoft.com/office/drawing/2014/main" id="{3468F814-B956-9B21-C06C-67F485F670D5}"/>
              </a:ext>
            </a:extLst>
          </p:cNvPr>
          <p:cNvGraphicFramePr>
            <a:graphicFrameLocks noGrp="1"/>
          </p:cNvGraphicFramePr>
          <p:nvPr>
            <p:extLst>
              <p:ext uri="{D42A27DB-BD31-4B8C-83A1-F6EECF244321}">
                <p14:modId xmlns:p14="http://schemas.microsoft.com/office/powerpoint/2010/main" val="3039487552"/>
              </p:ext>
            </p:extLst>
          </p:nvPr>
        </p:nvGraphicFramePr>
        <p:xfrm>
          <a:off x="287080" y="4859078"/>
          <a:ext cx="3955311" cy="1745915"/>
        </p:xfrm>
        <a:graphic>
          <a:graphicData uri="http://schemas.openxmlformats.org/drawingml/2006/table">
            <a:tbl>
              <a:tblPr firstRow="1" bandRow="1">
                <a:tableStyleId>{5C22544A-7EE6-4342-B048-85BDC9FD1C3A}</a:tableStyleId>
              </a:tblPr>
              <a:tblGrid>
                <a:gridCol w="3955311">
                  <a:extLst>
                    <a:ext uri="{9D8B030D-6E8A-4147-A177-3AD203B41FA5}">
                      <a16:colId xmlns:a16="http://schemas.microsoft.com/office/drawing/2014/main" val="1106401692"/>
                    </a:ext>
                  </a:extLst>
                </a:gridCol>
              </a:tblGrid>
              <a:tr h="56159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rgbClr val="E2E6E9"/>
                          </a:solidFill>
                          <a:latin typeface="Montserrat Bold" pitchFamily="34" charset="0"/>
                          <a:ea typeface="Montserrat Bold" pitchFamily="34" charset="-122"/>
                          <a:cs typeface="Montserrat Bold" pitchFamily="34" charset="-120"/>
                        </a:rPr>
                        <a:t>Color Distortion</a:t>
                      </a:r>
                      <a:endParaRPr lang="en-US" sz="1800" dirty="0"/>
                    </a:p>
                    <a:p>
                      <a:endParaRPr lang="en-IN" dirty="0"/>
                    </a:p>
                  </a:txBody>
                  <a:tcPr/>
                </a:tc>
                <a:extLst>
                  <a:ext uri="{0D108BD9-81ED-4DB2-BD59-A6C34878D82A}">
                    <a16:rowId xmlns:a16="http://schemas.microsoft.com/office/drawing/2014/main" val="2216325216"/>
                  </a:ext>
                </a:extLst>
              </a:tr>
              <a:tr h="116679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tx1"/>
                          </a:solidFill>
                          <a:latin typeface="Source Sans 3" pitchFamily="34" charset="0"/>
                          <a:ea typeface="Source Sans 3" pitchFamily="34" charset="-122"/>
                          <a:cs typeface="Source Sans 3" pitchFamily="34" charset="-120"/>
                        </a:rPr>
                        <a:t>Natural colors are lost underwater due to differential absorption, resulting in faded and unrealistic appearances.</a:t>
                      </a:r>
                      <a:endParaRPr lang="en-US" sz="1600" dirty="0">
                        <a:solidFill>
                          <a:schemeClr val="tx1"/>
                        </a:solidFill>
                      </a:endParaRPr>
                    </a:p>
                    <a:p>
                      <a:endParaRPr lang="en-IN" dirty="0"/>
                    </a:p>
                  </a:txBody>
                  <a:tcPr/>
                </a:tc>
                <a:extLst>
                  <a:ext uri="{0D108BD9-81ED-4DB2-BD59-A6C34878D82A}">
                    <a16:rowId xmlns:a16="http://schemas.microsoft.com/office/drawing/2014/main" val="3032638114"/>
                  </a:ext>
                </a:extLst>
              </a:tr>
            </a:tbl>
          </a:graphicData>
        </a:graphic>
      </p:graphicFrame>
      <p:graphicFrame>
        <p:nvGraphicFramePr>
          <p:cNvPr id="8" name="Table 7">
            <a:extLst>
              <a:ext uri="{FF2B5EF4-FFF2-40B4-BE49-F238E27FC236}">
                <a16:creationId xmlns:a16="http://schemas.microsoft.com/office/drawing/2014/main" id="{D5F23C52-14FA-5326-2955-0AFA51ED033F}"/>
              </a:ext>
            </a:extLst>
          </p:cNvPr>
          <p:cNvGraphicFramePr>
            <a:graphicFrameLocks noGrp="1"/>
          </p:cNvGraphicFramePr>
          <p:nvPr>
            <p:extLst>
              <p:ext uri="{D42A27DB-BD31-4B8C-83A1-F6EECF244321}">
                <p14:modId xmlns:p14="http://schemas.microsoft.com/office/powerpoint/2010/main" val="2148784087"/>
              </p:ext>
            </p:extLst>
          </p:nvPr>
        </p:nvGraphicFramePr>
        <p:xfrm>
          <a:off x="4418419" y="4859078"/>
          <a:ext cx="3694224" cy="1752970"/>
        </p:xfrm>
        <a:graphic>
          <a:graphicData uri="http://schemas.openxmlformats.org/drawingml/2006/table">
            <a:tbl>
              <a:tblPr firstRow="1" bandRow="1">
                <a:tableStyleId>{5C22544A-7EE6-4342-B048-85BDC9FD1C3A}</a:tableStyleId>
              </a:tblPr>
              <a:tblGrid>
                <a:gridCol w="3694224">
                  <a:extLst>
                    <a:ext uri="{9D8B030D-6E8A-4147-A177-3AD203B41FA5}">
                      <a16:colId xmlns:a16="http://schemas.microsoft.com/office/drawing/2014/main" val="3371562084"/>
                    </a:ext>
                  </a:extLst>
                </a:gridCol>
              </a:tblGrid>
              <a:tr h="7166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rgbClr val="E2E6E9"/>
                          </a:solidFill>
                          <a:latin typeface="Montserrat Bold" pitchFamily="34" charset="0"/>
                          <a:ea typeface="Montserrat Bold" pitchFamily="34" charset="-122"/>
                          <a:cs typeface="Montserrat Bold" pitchFamily="34" charset="-120"/>
                        </a:rPr>
                        <a:t>Blur &amp; Noise</a:t>
                      </a:r>
                      <a:endParaRPr lang="en-US" sz="1800" dirty="0"/>
                    </a:p>
                    <a:p>
                      <a:endParaRPr lang="en-IN" dirty="0"/>
                    </a:p>
                  </a:txBody>
                  <a:tcPr/>
                </a:tc>
                <a:extLst>
                  <a:ext uri="{0D108BD9-81ED-4DB2-BD59-A6C34878D82A}">
                    <a16:rowId xmlns:a16="http://schemas.microsoft.com/office/drawing/2014/main" val="1722543398"/>
                  </a:ext>
                </a:extLst>
              </a:tr>
              <a:tr h="10117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tx1"/>
                          </a:solidFill>
                          <a:latin typeface="Source Sans 3" pitchFamily="34" charset="0"/>
                          <a:ea typeface="Source Sans 3" pitchFamily="34" charset="-122"/>
                          <a:cs typeface="Source Sans 3" pitchFamily="34" charset="-120"/>
                        </a:rPr>
                        <a:t>Water movement and suspended particles reduce image sharpness and introduce noise into captured images.</a:t>
                      </a:r>
                      <a:endParaRPr lang="en-US" sz="1600" dirty="0">
                        <a:solidFill>
                          <a:schemeClr val="tx1"/>
                        </a:solidFill>
                      </a:endParaRPr>
                    </a:p>
                    <a:p>
                      <a:endParaRPr lang="en-IN" dirty="0"/>
                    </a:p>
                  </a:txBody>
                  <a:tcPr/>
                </a:tc>
                <a:extLst>
                  <a:ext uri="{0D108BD9-81ED-4DB2-BD59-A6C34878D82A}">
                    <a16:rowId xmlns:a16="http://schemas.microsoft.com/office/drawing/2014/main" val="1655865842"/>
                  </a:ext>
                </a:extLst>
              </a:tr>
            </a:tbl>
          </a:graphicData>
        </a:graphic>
      </p:graphicFrame>
    </p:spTree>
    <p:extLst>
      <p:ext uri="{BB962C8B-B14F-4D97-AF65-F5344CB8AC3E}">
        <p14:creationId xmlns:p14="http://schemas.microsoft.com/office/powerpoint/2010/main" val="3597981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63AF-0F3E-E22D-271D-198F1FCD35EC}"/>
              </a:ext>
            </a:extLst>
          </p:cNvPr>
          <p:cNvSpPr>
            <a:spLocks noGrp="1"/>
          </p:cNvSpPr>
          <p:nvPr>
            <p:ph type="title"/>
          </p:nvPr>
        </p:nvSpPr>
        <p:spPr>
          <a:xfrm>
            <a:off x="255181" y="932659"/>
            <a:ext cx="11497213" cy="1325563"/>
          </a:xfrm>
        </p:spPr>
        <p:txBody>
          <a:bodyPr/>
          <a:lstStyle/>
          <a:p>
            <a:r>
              <a:rPr lang="en-US" b="1" dirty="0">
                <a:latin typeface="Times New Roman" panose="02020603050405020304" pitchFamily="18" charset="0"/>
                <a:cs typeface="Times New Roman" panose="02020603050405020304" pitchFamily="18" charset="0"/>
              </a:rPr>
              <a:t>Literature</a:t>
            </a:r>
            <a:br>
              <a:rPr lang="en-US" b="1" dirty="0"/>
            </a:br>
            <a:endParaRPr lang="en-IN" b="1" dirty="0"/>
          </a:p>
        </p:txBody>
      </p:sp>
      <p:sp>
        <p:nvSpPr>
          <p:cNvPr id="3" name="Text Placeholder 2">
            <a:extLst>
              <a:ext uri="{FF2B5EF4-FFF2-40B4-BE49-F238E27FC236}">
                <a16:creationId xmlns:a16="http://schemas.microsoft.com/office/drawing/2014/main" id="{9E41E437-4704-E185-A5FA-0B0E6F0160D0}"/>
              </a:ext>
            </a:extLst>
          </p:cNvPr>
          <p:cNvSpPr>
            <a:spLocks noGrp="1"/>
          </p:cNvSpPr>
          <p:nvPr>
            <p:ph type="body" idx="1"/>
          </p:nvPr>
        </p:nvSpPr>
        <p:spPr>
          <a:xfrm>
            <a:off x="0" y="1552353"/>
            <a:ext cx="11750621" cy="1648047"/>
          </a:xfrm>
        </p:spPr>
        <p:txBody>
          <a:bodyPr>
            <a:normAutofit/>
          </a:bodyPr>
          <a:lstStyle/>
          <a:p>
            <a:pPr marL="114300" indent="0">
              <a:buNone/>
            </a:pPr>
            <a:r>
              <a:rPr lang="en-US" sz="2150" dirty="0">
                <a:solidFill>
                  <a:schemeClr val="tx1"/>
                </a:solidFill>
                <a:latin typeface="Times New Roman" panose="02020603050405020304" pitchFamily="18" charset="0"/>
                <a:ea typeface="Source Sans 3" pitchFamily="34" charset="-122"/>
                <a:cs typeface="Times New Roman" panose="02020603050405020304" pitchFamily="18" charset="0"/>
              </a:rPr>
              <a:t>Classical image enhancement methods improve image quality by directly manipulating pixel intensity values in the spatial domain. These techniques are fundamental to underwater image processing</a:t>
            </a:r>
            <a:endParaRPr lang="en-IN" sz="215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DBB726-78A3-C81E-A232-8C8A24435B3D}"/>
              </a:ext>
            </a:extLst>
          </p:cNvPr>
          <p:cNvSpPr txBox="1"/>
          <p:nvPr/>
        </p:nvSpPr>
        <p:spPr>
          <a:xfrm>
            <a:off x="255181" y="2478743"/>
            <a:ext cx="4848447" cy="1877437"/>
          </a:xfrm>
          <a:prstGeom prst="rect">
            <a:avLst/>
          </a:prstGeom>
          <a:noFill/>
        </p:spPr>
        <p:txBody>
          <a:bodyPr wrap="square" rtlCol="0">
            <a:spAutoFit/>
          </a:bodyPr>
          <a:lstStyle/>
          <a:p>
            <a:r>
              <a:rPr lang="en-US" sz="2400" b="1" dirty="0">
                <a:solidFill>
                  <a:schemeClr val="bg2"/>
                </a:solidFill>
                <a:latin typeface="Franklin Gothic Demi" panose="020B0703020102020204" pitchFamily="34" charset="0"/>
                <a:ea typeface="Montserrat Bold" pitchFamily="34" charset="-122"/>
                <a:cs typeface="Montserrat Bold" pitchFamily="34" charset="-120"/>
              </a:rPr>
              <a:t>Histogram Equalization (HE)</a:t>
            </a:r>
          </a:p>
          <a:p>
            <a:endParaRPr lang="en-US" dirty="0">
              <a:solidFill>
                <a:schemeClr val="tx1"/>
              </a:solidFill>
            </a:endParaRP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Redistributes intensity values across the histogram to enhance overall image contrast. Effective for global enhancement but may cause over-enhancement and unnatural brightness in some cases.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D844DD03-7320-4E33-9C97-9028C33DDACA}"/>
              </a:ext>
            </a:extLst>
          </p:cNvPr>
          <p:cNvSpPr txBox="1"/>
          <p:nvPr/>
        </p:nvSpPr>
        <p:spPr>
          <a:xfrm>
            <a:off x="5326911" y="2478744"/>
            <a:ext cx="5635256" cy="1823576"/>
          </a:xfrm>
          <a:prstGeom prst="rect">
            <a:avLst/>
          </a:prstGeom>
          <a:noFill/>
        </p:spPr>
        <p:txBody>
          <a:bodyPr wrap="square" rtlCol="0">
            <a:spAutoFit/>
          </a:bodyPr>
          <a:lstStyle/>
          <a:p>
            <a:r>
              <a:rPr lang="en-US" sz="2400" b="1" dirty="0">
                <a:solidFill>
                  <a:schemeClr val="bg2"/>
                </a:solidFill>
                <a:latin typeface="Franklin Gothic Demi" panose="020B0703020102020204" pitchFamily="34" charset="0"/>
                <a:ea typeface="Montserrat Bold" pitchFamily="34" charset="-122"/>
                <a:cs typeface="Montserrat Bold" pitchFamily="34" charset="-120"/>
              </a:rPr>
              <a:t>CLAHE</a:t>
            </a:r>
          </a:p>
          <a:p>
            <a:endParaRPr lang="en-US" sz="1050" dirty="0">
              <a:solidFill>
                <a:schemeClr val="bg2"/>
              </a:solidFill>
              <a:latin typeface="Franklin Gothic Demi" panose="020B0703020102020204" pitchFamily="34" charset="0"/>
            </a:endParaRP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Contrast Limited Adaptive Histogram Equalization works on small image regions called tiles. Enhances local contrast while controlling noise amplification, producing clearer and more natural results.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pic>
        <p:nvPicPr>
          <p:cNvPr id="8" name="Image 1">
            <a:extLst>
              <a:ext uri="{FF2B5EF4-FFF2-40B4-BE49-F238E27FC236}">
                <a16:creationId xmlns:a16="http://schemas.microsoft.com/office/drawing/2014/main" id="{72C2819C-B852-906F-A12A-00B906CD9C49}"/>
              </a:ext>
            </a:extLst>
          </p:cNvPr>
          <p:cNvPicPr>
            <a:picLocks/>
          </p:cNvPicPr>
          <p:nvPr/>
        </p:nvPicPr>
        <p:blipFill>
          <a:blip r:embed="rId2" cstate="print"/>
          <a:stretch>
            <a:fillRect/>
          </a:stretch>
        </p:blipFill>
        <p:spPr>
          <a:xfrm>
            <a:off x="1945758" y="4356179"/>
            <a:ext cx="8517310" cy="2172211"/>
          </a:xfrm>
          <a:prstGeom prst="rect">
            <a:avLst/>
          </a:prstGeom>
        </p:spPr>
      </p:pic>
    </p:spTree>
    <p:extLst>
      <p:ext uri="{BB962C8B-B14F-4D97-AF65-F5344CB8AC3E}">
        <p14:creationId xmlns:p14="http://schemas.microsoft.com/office/powerpoint/2010/main" val="3690232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C2C680-6205-F7A8-011A-7D3A07C1C84B}"/>
              </a:ext>
            </a:extLst>
          </p:cNvPr>
          <p:cNvSpPr>
            <a:spLocks noGrp="1"/>
          </p:cNvSpPr>
          <p:nvPr>
            <p:ph type="body" idx="1"/>
          </p:nvPr>
        </p:nvSpPr>
        <p:spPr>
          <a:xfrm>
            <a:off x="223284" y="1158949"/>
            <a:ext cx="4391248" cy="2270052"/>
          </a:xfrm>
        </p:spPr>
        <p:txBody>
          <a:bodyPr/>
          <a:lstStyle/>
          <a:p>
            <a:pPr marL="114300" indent="0">
              <a:buNone/>
            </a:pPr>
            <a:r>
              <a:rPr lang="en-US" b="1" dirty="0">
                <a:solidFill>
                  <a:schemeClr val="bg2"/>
                </a:solidFill>
                <a:latin typeface="Franklin Gothic Demi" panose="020B0703020102020204" pitchFamily="34" charset="0"/>
                <a:ea typeface="Montserrat Bold" pitchFamily="34" charset="-122"/>
                <a:cs typeface="Montserrat Bold" pitchFamily="34" charset="-120"/>
              </a:rPr>
              <a:t>Contrast Stretching</a:t>
            </a:r>
            <a:endParaRPr lang="en-US" dirty="0">
              <a:solidFill>
                <a:schemeClr val="bg2"/>
              </a:solidFill>
              <a:latin typeface="Franklin Gothic Demi" panose="020B0703020102020204" pitchFamily="34" charset="0"/>
            </a:endParaRPr>
          </a:p>
          <a:p>
            <a:pPr marL="114300" indent="0">
              <a:buNone/>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Expands narrow intensity ranges to full pixel range (0–255). Improves visibility while preserving image details, particularly useful for low contrast images.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5D9FC545-5D69-BE84-EDC4-84AE0B6FE653}"/>
              </a:ext>
            </a:extLst>
          </p:cNvPr>
          <p:cNvSpPr txBox="1"/>
          <p:nvPr/>
        </p:nvSpPr>
        <p:spPr>
          <a:xfrm>
            <a:off x="5316279" y="691116"/>
            <a:ext cx="5188687" cy="1946687"/>
          </a:xfrm>
          <a:prstGeom prst="rect">
            <a:avLst/>
          </a:prstGeom>
          <a:noFill/>
        </p:spPr>
        <p:txBody>
          <a:bodyPr wrap="square" rtlCol="0">
            <a:spAutoFit/>
          </a:bodyPr>
          <a:lstStyle/>
          <a:p>
            <a:r>
              <a:rPr lang="en-US" sz="2400" b="1" dirty="0">
                <a:solidFill>
                  <a:schemeClr val="bg2"/>
                </a:solidFill>
                <a:latin typeface="Franklin Gothic Demi" panose="020B0703020102020204" pitchFamily="34" charset="0"/>
                <a:ea typeface="Montserrat Bold" pitchFamily="34" charset="-122"/>
                <a:cs typeface="Montserrat Bold" pitchFamily="34" charset="-120"/>
              </a:rPr>
              <a:t>Gamma Correction</a:t>
            </a:r>
          </a:p>
          <a:p>
            <a:endParaRPr lang="en-US" sz="1050" b="1" dirty="0">
              <a:solidFill>
                <a:schemeClr val="bg2"/>
              </a:solidFill>
              <a:latin typeface="Franklin Gothic Demi" panose="020B0703020102020204" pitchFamily="34" charset="0"/>
              <a:ea typeface="Montserrat Bold" pitchFamily="34" charset="-122"/>
              <a:cs typeface="Montserrat Bold" pitchFamily="34" charset="-120"/>
            </a:endParaRP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Uses power-law transformation to adjust image brightness. Helps balance dark and bright regions, with gamma values controlling enhancement intensity.</a:t>
            </a:r>
            <a:endParaRPr lang="en-US" sz="1600" dirty="0">
              <a:solidFill>
                <a:schemeClr val="tx1"/>
              </a:solidFill>
              <a:latin typeface="Times New Roman" panose="02020603050405020304" pitchFamily="18" charset="0"/>
              <a:cs typeface="Times New Roman" panose="02020603050405020304" pitchFamily="18" charset="0"/>
            </a:endParaRPr>
          </a:p>
          <a:p>
            <a:endParaRPr lang="en-US" sz="2400" dirty="0">
              <a:solidFill>
                <a:schemeClr val="bg2"/>
              </a:solidFill>
              <a:latin typeface="Franklin Gothic Demi" panose="020B0703020102020204" pitchFamily="34" charset="0"/>
            </a:endParaRPr>
          </a:p>
          <a:p>
            <a:endParaRPr lang="en-IN" dirty="0"/>
          </a:p>
        </p:txBody>
      </p:sp>
      <p:pic>
        <p:nvPicPr>
          <p:cNvPr id="6" name="Image 8">
            <a:extLst>
              <a:ext uri="{FF2B5EF4-FFF2-40B4-BE49-F238E27FC236}">
                <a16:creationId xmlns:a16="http://schemas.microsoft.com/office/drawing/2014/main" id="{02BF3EAC-3692-3610-A168-176E347EB870}"/>
              </a:ext>
            </a:extLst>
          </p:cNvPr>
          <p:cNvPicPr>
            <a:picLocks/>
          </p:cNvPicPr>
          <p:nvPr/>
        </p:nvPicPr>
        <p:blipFill>
          <a:blip r:embed="rId2" cstate="print"/>
          <a:stretch>
            <a:fillRect/>
          </a:stretch>
        </p:blipFill>
        <p:spPr>
          <a:xfrm>
            <a:off x="5401340" y="2508355"/>
            <a:ext cx="5188688" cy="3816429"/>
          </a:xfrm>
          <a:prstGeom prst="rect">
            <a:avLst/>
          </a:prstGeom>
        </p:spPr>
      </p:pic>
      <p:sp>
        <p:nvSpPr>
          <p:cNvPr id="7" name="TextBox 6">
            <a:extLst>
              <a:ext uri="{FF2B5EF4-FFF2-40B4-BE49-F238E27FC236}">
                <a16:creationId xmlns:a16="http://schemas.microsoft.com/office/drawing/2014/main" id="{0DA65A6A-74E9-74AE-B09C-D6D78C47C6FF}"/>
              </a:ext>
            </a:extLst>
          </p:cNvPr>
          <p:cNvSpPr txBox="1"/>
          <p:nvPr/>
        </p:nvSpPr>
        <p:spPr>
          <a:xfrm>
            <a:off x="587450" y="3110024"/>
            <a:ext cx="4229100" cy="3816429"/>
          </a:xfrm>
          <a:prstGeom prst="rect">
            <a:avLst/>
          </a:prstGeom>
          <a:noFill/>
        </p:spPr>
        <p:txBody>
          <a:bodyPr wrap="square" rtlCol="0">
            <a:spAutoFit/>
          </a:bodyPr>
          <a:lstStyle/>
          <a:p>
            <a:r>
              <a:rPr lang="en-US" sz="2400" b="1" dirty="0">
                <a:solidFill>
                  <a:schemeClr val="accent1"/>
                </a:solidFill>
                <a:latin typeface="Franklin Gothic Demi" panose="020B0703020102020204" pitchFamily="34" charset="0"/>
                <a:ea typeface="Montserrat Bold" pitchFamily="34" charset="-122"/>
                <a:cs typeface="Montserrat Bold" pitchFamily="34" charset="-120"/>
              </a:rPr>
              <a:t>Advantages</a:t>
            </a:r>
          </a:p>
          <a:p>
            <a:endParaRPr lang="en-US" b="1" dirty="0">
              <a:solidFill>
                <a:schemeClr val="tx1"/>
              </a:solidFill>
              <a:latin typeface="Franklin Gothic Demi" panose="020B0703020102020204" pitchFamily="34" charset="0"/>
              <a:ea typeface="Montserrat Bold" pitchFamily="34" charset="-122"/>
              <a:cs typeface="Montserrat Bold" pitchFamily="34" charset="-12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Simple implementation</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Fast processing speed</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Low computational cost</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Wide applicability</a:t>
            </a:r>
          </a:p>
          <a:p>
            <a:pPr>
              <a:lnSpc>
                <a:spcPts val="1900"/>
              </a:lnSpc>
              <a:buSzPct val="100000"/>
            </a:pPr>
            <a:endParaRPr lang="en-US" dirty="0">
              <a:solidFill>
                <a:schemeClr val="tx1"/>
              </a:solidFill>
              <a:latin typeface="Source Sans 3" pitchFamily="34" charset="0"/>
            </a:endParaRPr>
          </a:p>
          <a:p>
            <a:pPr>
              <a:lnSpc>
                <a:spcPts val="1900"/>
              </a:lnSpc>
              <a:buSzPct val="100000"/>
            </a:pPr>
            <a:r>
              <a:rPr lang="en-US" sz="2400" b="1" dirty="0">
                <a:solidFill>
                  <a:schemeClr val="accent1"/>
                </a:solidFill>
                <a:latin typeface="Franklin Gothic Demi" panose="020B0703020102020204" pitchFamily="34" charset="0"/>
                <a:ea typeface="Montserrat Bold" pitchFamily="34" charset="-122"/>
                <a:cs typeface="Montserrat Bold" pitchFamily="34" charset="-120"/>
              </a:rPr>
              <a:t>Limitations</a:t>
            </a:r>
          </a:p>
          <a:p>
            <a:pPr marL="342900" indent="-342900">
              <a:lnSpc>
                <a:spcPts val="1900"/>
              </a:lnSpc>
              <a:buSzPct val="100000"/>
              <a:buChar char="•"/>
            </a:pPr>
            <a:endParaRPr lang="en-US" b="1" dirty="0">
              <a:solidFill>
                <a:schemeClr val="tx1"/>
              </a:solidFill>
              <a:latin typeface="Montserrat Bold" pitchFamily="34" charset="0"/>
              <a:ea typeface="Montserrat Bold" pitchFamily="34" charset="-122"/>
              <a:cs typeface="Montserrat Bold" pitchFamily="34" charset="-12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Sensitive to noise</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Limited adaptability in complex environments</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May cause over-enhancement</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nSpc>
                <a:spcPts val="1900"/>
              </a:lnSpc>
              <a:buSzPct val="100000"/>
              <a:buChar char="•"/>
            </a:pP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Franklin Gothic Demi" panose="020B0703020102020204" pitchFamily="34" charset="0"/>
            </a:endParaRPr>
          </a:p>
        </p:txBody>
      </p:sp>
    </p:spTree>
    <p:extLst>
      <p:ext uri="{BB962C8B-B14F-4D97-AF65-F5344CB8AC3E}">
        <p14:creationId xmlns:p14="http://schemas.microsoft.com/office/powerpoint/2010/main" val="3327494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C942-BE3F-C3D0-DBAA-F399BB9F8B5E}"/>
              </a:ext>
            </a:extLst>
          </p:cNvPr>
          <p:cNvSpPr>
            <a:spLocks noGrp="1"/>
          </p:cNvSpPr>
          <p:nvPr>
            <p:ph type="title"/>
          </p:nvPr>
        </p:nvSpPr>
        <p:spPr>
          <a:xfrm>
            <a:off x="223285" y="606057"/>
            <a:ext cx="11529110" cy="1456659"/>
          </a:xfrm>
        </p:spPr>
        <p:txBody>
          <a:bodyPr/>
          <a:lstStyle/>
          <a:p>
            <a:r>
              <a:rPr lang="en-IN" b="1" dirty="0" err="1">
                <a:latin typeface="Times New Roman" panose="02020603050405020304" pitchFamily="18" charset="0"/>
                <a:cs typeface="Times New Roman" panose="02020603050405020304" pitchFamily="18" charset="0"/>
              </a:rPr>
              <a:t>Color</a:t>
            </a:r>
            <a:r>
              <a:rPr lang="en-IN" b="1" dirty="0">
                <a:latin typeface="Times New Roman" panose="02020603050405020304" pitchFamily="18" charset="0"/>
                <a:cs typeface="Times New Roman" panose="02020603050405020304" pitchFamily="18" charset="0"/>
              </a:rPr>
              <a:t> Correction</a:t>
            </a:r>
          </a:p>
        </p:txBody>
      </p:sp>
      <p:sp>
        <p:nvSpPr>
          <p:cNvPr id="3" name="Text Placeholder 2">
            <a:extLst>
              <a:ext uri="{FF2B5EF4-FFF2-40B4-BE49-F238E27FC236}">
                <a16:creationId xmlns:a16="http://schemas.microsoft.com/office/drawing/2014/main" id="{01F7F02A-C7EF-352D-EF96-CC9CFA160771}"/>
              </a:ext>
            </a:extLst>
          </p:cNvPr>
          <p:cNvSpPr>
            <a:spLocks noGrp="1"/>
          </p:cNvSpPr>
          <p:nvPr>
            <p:ph type="body" idx="1"/>
          </p:nvPr>
        </p:nvSpPr>
        <p:spPr>
          <a:xfrm>
            <a:off x="221511" y="1637415"/>
            <a:ext cx="11529109" cy="776176"/>
          </a:xfrm>
        </p:spPr>
        <p:txBody>
          <a:bodyPr/>
          <a:lstStyle/>
          <a:p>
            <a:pPr marL="114300" indent="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Underwater images lose natural colors because different light wavelengths are absorbed at different depths. Color correction techniques restore realistic appearances.</a:t>
            </a:r>
            <a:endParaRPr lang="en-US" sz="20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5" name="Rectangle 4">
            <a:extLst>
              <a:ext uri="{FF2B5EF4-FFF2-40B4-BE49-F238E27FC236}">
                <a16:creationId xmlns:a16="http://schemas.microsoft.com/office/drawing/2014/main" id="{E1B4057B-266D-67D2-0653-69B274805F3D}"/>
              </a:ext>
            </a:extLst>
          </p:cNvPr>
          <p:cNvSpPr/>
          <p:nvPr/>
        </p:nvSpPr>
        <p:spPr>
          <a:xfrm>
            <a:off x="435049" y="4657062"/>
            <a:ext cx="4753640" cy="193512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100"/>
              </a:lnSpc>
            </a:pPr>
            <a:r>
              <a:rPr lang="en-US" sz="2400" dirty="0">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rPr>
              <a:t>RGB Color Compensation </a:t>
            </a:r>
            <a:endParaRPr lang="en-US" dirty="0">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endParaRPr>
          </a:p>
          <a:p>
            <a:pPr algn="ctr">
              <a:lnSpc>
                <a:spcPts val="2100"/>
              </a:lnSpc>
            </a:pPr>
            <a:endParaRPr lang="en-US" dirty="0">
              <a:ln w="0"/>
              <a:solidFill>
                <a:schemeClr val="tx1"/>
              </a:solidFill>
              <a:effectLst>
                <a:outerShdw blurRad="38100" dist="19050" dir="2700000" algn="tl" rotWithShape="0">
                  <a:schemeClr val="dk1">
                    <a:alpha val="40000"/>
                  </a:schemeClr>
                </a:outerShdw>
              </a:effectLst>
              <a:latin typeface="Franklin Gothic Demi" panose="020B0703020102020204" pitchFamily="34" charset="0"/>
              <a:ea typeface="Montserrat Bold" pitchFamily="34" charset="-122"/>
              <a:cs typeface="Montserrat Bold" pitchFamily="34" charset="-120"/>
            </a:endParaRPr>
          </a:p>
          <a:p>
            <a:pPr algn="ctr">
              <a:lnSpc>
                <a:spcPts val="2100"/>
              </a:lnSpc>
            </a:pP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Restores weakened red and green channels, significantly improving natural appearance and color fidelity</a:t>
            </a:r>
            <a:endParaRPr lang="en-US" sz="18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CE7C5FA-6011-70B8-D2C4-3955866D12BF}"/>
              </a:ext>
            </a:extLst>
          </p:cNvPr>
          <p:cNvSpPr/>
          <p:nvPr/>
        </p:nvSpPr>
        <p:spPr>
          <a:xfrm>
            <a:off x="435048" y="2434856"/>
            <a:ext cx="4678325" cy="200955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rPr>
              <a:t>White Balance Adjustment</a:t>
            </a:r>
          </a:p>
          <a:p>
            <a:pPr algn="ctr"/>
            <a:endParaRPr lang="en-US" dirty="0">
              <a:ln w="0"/>
              <a:solidFill>
                <a:schemeClr val="tx1"/>
              </a:solidFill>
              <a:effectLst>
                <a:outerShdw blurRad="38100" dist="19050" dir="2700000" algn="tl" rotWithShape="0">
                  <a:schemeClr val="dk1">
                    <a:alpha val="40000"/>
                  </a:schemeClr>
                </a:outerShdw>
              </a:effectLst>
              <a:latin typeface="Franklin Gothic Demi" panose="020B0703020102020204" pitchFamily="34" charset="0"/>
              <a:ea typeface="Montserrat Bold" pitchFamily="34" charset="-122"/>
              <a:cs typeface="Montserrat Bold" pitchFamily="34" charset="-120"/>
            </a:endParaRP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Removes color casts and makes white objects appear natural under underwater lighting conditions.</a:t>
            </a:r>
            <a:endParaRPr lang="en-US" sz="1800" dirty="0">
              <a:solidFill>
                <a:schemeClr val="tx1"/>
              </a:solidFill>
              <a:latin typeface="Times New Roman" panose="02020603050405020304" pitchFamily="18" charset="0"/>
              <a:cs typeface="Times New Roman" panose="02020603050405020304" pitchFamily="18" charset="0"/>
            </a:endParaRPr>
          </a:p>
          <a:p>
            <a:pPr algn="ctr"/>
            <a:endPar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endParaRPr lang="en-IN" dirty="0"/>
          </a:p>
        </p:txBody>
      </p:sp>
      <p:sp>
        <p:nvSpPr>
          <p:cNvPr id="10" name="Rectangle 9">
            <a:extLst>
              <a:ext uri="{FF2B5EF4-FFF2-40B4-BE49-F238E27FC236}">
                <a16:creationId xmlns:a16="http://schemas.microsoft.com/office/drawing/2014/main" id="{C99A6C01-1B3C-647A-11B8-B9757EA7B169}"/>
              </a:ext>
            </a:extLst>
          </p:cNvPr>
          <p:cNvSpPr/>
          <p:nvPr/>
        </p:nvSpPr>
        <p:spPr>
          <a:xfrm>
            <a:off x="5624624" y="2434856"/>
            <a:ext cx="5932968" cy="186601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100"/>
              </a:lnSpc>
            </a:pPr>
            <a:r>
              <a:rPr lang="en-US" sz="2400" dirty="0" err="1">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rPr>
              <a:t>Retinex</a:t>
            </a:r>
            <a:r>
              <a:rPr lang="en-US" sz="2400" dirty="0">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rPr>
              <a:t>-Based Enhancement</a:t>
            </a:r>
          </a:p>
          <a:p>
            <a:pPr algn="ctr">
              <a:lnSpc>
                <a:spcPts val="2100"/>
              </a:lnSpc>
            </a:pPr>
            <a:endParaRPr lang="en-US" sz="2400" dirty="0">
              <a:ln w="0"/>
              <a:solidFill>
                <a:schemeClr val="tx1"/>
              </a:solidFill>
              <a:effectLst>
                <a:outerShdw blurRad="38100" dist="19050" dir="2700000" algn="tl" rotWithShape="0">
                  <a:schemeClr val="dk1">
                    <a:alpha val="40000"/>
                  </a:schemeClr>
                </a:outerShdw>
              </a:effectLst>
              <a:latin typeface="Franklin Gothic Demi" panose="020B0703020102020204" pitchFamily="34" charset="0"/>
              <a:ea typeface="Montserrat Bold" pitchFamily="34" charset="-122"/>
              <a:cs typeface="Montserrat Bold" pitchFamily="34" charset="-120"/>
            </a:endParaRPr>
          </a:p>
          <a:p>
            <a:pPr algn="ctr">
              <a:lnSpc>
                <a:spcPts val="2100"/>
              </a:lnSpc>
            </a:pP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Improves illumination consistency and enhances visibility and color balance simultaneously for better results.</a:t>
            </a:r>
            <a:endParaRPr lang="en-US" sz="1800" dirty="0">
              <a:solidFill>
                <a:schemeClr val="tx1"/>
              </a:solidFill>
              <a:latin typeface="Times New Roman" panose="02020603050405020304" pitchFamily="18" charset="0"/>
              <a:cs typeface="Times New Roman" panose="02020603050405020304" pitchFamily="18" charset="0"/>
            </a:endParaRPr>
          </a:p>
          <a:p>
            <a:pPr>
              <a:lnSpc>
                <a:spcPts val="2100"/>
              </a:lnSpc>
            </a:pPr>
            <a:endParaRPr lang="en-US" sz="2400" dirty="0">
              <a:ln w="0"/>
              <a:solidFill>
                <a:schemeClr val="tx1"/>
              </a:solidFill>
              <a:effectLst>
                <a:outerShdw blurRad="38100" dist="19050" dir="2700000" algn="tl" rotWithShape="0">
                  <a:schemeClr val="dk1">
                    <a:alpha val="40000"/>
                  </a:schemeClr>
                </a:outerShdw>
              </a:effectLst>
              <a:latin typeface="Franklin Gothic Demi" panose="020B0703020102020204" pitchFamily="34" charset="0"/>
              <a:ea typeface="Montserrat Bold" pitchFamily="34" charset="-122"/>
              <a:cs typeface="Montserrat Bold" pitchFamily="34" charset="-120"/>
            </a:endParaRPr>
          </a:p>
        </p:txBody>
      </p:sp>
      <p:sp>
        <p:nvSpPr>
          <p:cNvPr id="11" name="Rectangle 10">
            <a:extLst>
              <a:ext uri="{FF2B5EF4-FFF2-40B4-BE49-F238E27FC236}">
                <a16:creationId xmlns:a16="http://schemas.microsoft.com/office/drawing/2014/main" id="{C8B2359A-1DC8-4EB6-2030-9FB7E4D9EB8D}"/>
              </a:ext>
            </a:extLst>
          </p:cNvPr>
          <p:cNvSpPr/>
          <p:nvPr/>
        </p:nvSpPr>
        <p:spPr>
          <a:xfrm>
            <a:off x="5624624" y="4651747"/>
            <a:ext cx="5932968" cy="193512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100"/>
              </a:lnSpc>
            </a:pPr>
            <a:r>
              <a:rPr lang="en-US" sz="2400" dirty="0">
                <a:ln w="0"/>
                <a:solidFill>
                  <a:schemeClr val="accent1"/>
                </a:solidFill>
                <a:effectLst>
                  <a:outerShdw blurRad="38100" dist="25400" dir="5400000" algn="ctr" rotWithShape="0">
                    <a:srgbClr val="6E747A">
                      <a:alpha val="43000"/>
                    </a:srgbClr>
                  </a:outerShdw>
                </a:effectLst>
                <a:latin typeface="Franklin Gothic Demi" panose="020B0703020102020204" pitchFamily="34" charset="0"/>
                <a:ea typeface="Montserrat Bold" pitchFamily="34" charset="-122"/>
                <a:cs typeface="Montserrat Bold" pitchFamily="34" charset="-120"/>
              </a:rPr>
              <a:t>Histogram-Based Color Adjustment</a:t>
            </a:r>
          </a:p>
          <a:p>
            <a:pPr algn="ctr">
              <a:lnSpc>
                <a:spcPts val="2100"/>
              </a:lnSpc>
            </a:pPr>
            <a:endParaRPr lang="en-US" sz="2400" dirty="0">
              <a:ln w="0"/>
              <a:solidFill>
                <a:schemeClr val="tx1"/>
              </a:solidFill>
              <a:effectLst>
                <a:outerShdw blurRad="38100" dist="19050" dir="2700000" algn="tl" rotWithShape="0">
                  <a:schemeClr val="dk1">
                    <a:alpha val="40000"/>
                  </a:schemeClr>
                </a:outerShdw>
              </a:effectLst>
              <a:latin typeface="Franklin Gothic Demi" panose="020B0703020102020204" pitchFamily="34" charset="0"/>
              <a:ea typeface="Montserrat Bold" pitchFamily="34" charset="-122"/>
              <a:cs typeface="Montserrat Bold" pitchFamily="34" charset="-120"/>
            </a:endParaRPr>
          </a:p>
          <a:p>
            <a:pPr algn="ctr">
              <a:lnSpc>
                <a:spcPts val="2100"/>
              </a:lnSpc>
            </a:pP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Enhances color distribution and intensity balance across all channels for optimal appearance</a:t>
            </a:r>
            <a:endParaRPr lang="en-US" sz="18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271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E1DBA-ED9A-1476-DB88-89B0641EE193}"/>
              </a:ext>
            </a:extLst>
          </p:cNvPr>
          <p:cNvSpPr>
            <a:spLocks noGrp="1"/>
          </p:cNvSpPr>
          <p:nvPr>
            <p:ph type="title"/>
          </p:nvPr>
        </p:nvSpPr>
        <p:spPr>
          <a:xfrm>
            <a:off x="435935" y="932659"/>
            <a:ext cx="11316459" cy="1325563"/>
          </a:xfrm>
        </p:spPr>
        <p:txBody>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Detail Sharpening Techniques</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C5726AC-08D1-6485-3922-97F352D5CCF2}"/>
              </a:ext>
            </a:extLst>
          </p:cNvPr>
          <p:cNvSpPr>
            <a:spLocks noGrp="1"/>
          </p:cNvSpPr>
          <p:nvPr>
            <p:ph type="body" idx="1"/>
          </p:nvPr>
        </p:nvSpPr>
        <p:spPr>
          <a:xfrm>
            <a:off x="308345" y="1711842"/>
            <a:ext cx="11442276" cy="850605"/>
          </a:xfrm>
        </p:spPr>
        <p:txBody>
          <a:bodyPr/>
          <a:lstStyle/>
          <a:p>
            <a:pPr marL="114300" indent="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Detail sharpening improves edge visibility and image clarity through high-frequency enhancement.</a:t>
            </a:r>
            <a:endParaRPr lang="en-US" sz="2000" dirty="0">
              <a:solidFill>
                <a:schemeClr val="tx1"/>
              </a:solidFill>
              <a:latin typeface="Times New Roman" panose="02020603050405020304" pitchFamily="18" charset="0"/>
              <a:cs typeface="Times New Roman" panose="02020603050405020304" pitchFamily="18" charset="0"/>
            </a:endParaRPr>
          </a:p>
          <a:p>
            <a:endParaRPr lang="en-IN" dirty="0"/>
          </a:p>
        </p:txBody>
      </p:sp>
      <p:pic>
        <p:nvPicPr>
          <p:cNvPr id="4" name="Image 7">
            <a:extLst>
              <a:ext uri="{FF2B5EF4-FFF2-40B4-BE49-F238E27FC236}">
                <a16:creationId xmlns:a16="http://schemas.microsoft.com/office/drawing/2014/main" id="{6B457528-60CD-6873-D2B2-A763CC8E3B2A}"/>
              </a:ext>
            </a:extLst>
          </p:cNvPr>
          <p:cNvPicPr>
            <a:picLocks/>
          </p:cNvPicPr>
          <p:nvPr/>
        </p:nvPicPr>
        <p:blipFill>
          <a:blip r:embed="rId2" cstate="print"/>
          <a:stretch>
            <a:fillRect/>
          </a:stretch>
        </p:blipFill>
        <p:spPr>
          <a:xfrm>
            <a:off x="5760960" y="3965944"/>
            <a:ext cx="5538084" cy="2435274"/>
          </a:xfrm>
          <a:prstGeom prst="rect">
            <a:avLst/>
          </a:prstGeom>
        </p:spPr>
      </p:pic>
      <p:sp>
        <p:nvSpPr>
          <p:cNvPr id="8" name="TextBox 7">
            <a:extLst>
              <a:ext uri="{FF2B5EF4-FFF2-40B4-BE49-F238E27FC236}">
                <a16:creationId xmlns:a16="http://schemas.microsoft.com/office/drawing/2014/main" id="{C2B6636E-4C72-0745-78DF-08BB55942B7D}"/>
              </a:ext>
            </a:extLst>
          </p:cNvPr>
          <p:cNvSpPr txBox="1"/>
          <p:nvPr/>
        </p:nvSpPr>
        <p:spPr>
          <a:xfrm>
            <a:off x="306572" y="2488019"/>
            <a:ext cx="3744433" cy="1877437"/>
          </a:xfrm>
          <a:prstGeom prst="rect">
            <a:avLst/>
          </a:prstGeom>
          <a:noFill/>
        </p:spPr>
        <p:txBody>
          <a:bodyPr wrap="square" rtlCol="0">
            <a:spAutoFit/>
          </a:bodyPr>
          <a:lstStyle/>
          <a:p>
            <a:r>
              <a:rPr lang="en-US" sz="2400" b="1" dirty="0">
                <a:solidFill>
                  <a:srgbClr val="002060"/>
                </a:solidFill>
                <a:latin typeface="Franklin Gothic Demi" panose="020B0703020102020204" pitchFamily="34" charset="0"/>
                <a:ea typeface="Montserrat Bold" pitchFamily="34" charset="-122"/>
                <a:cs typeface="Montserrat Bold" pitchFamily="34" charset="-120"/>
              </a:rPr>
              <a:t>&gt; Unsharp Masking</a:t>
            </a:r>
          </a:p>
          <a:p>
            <a:endParaRPr lang="en-US" sz="2400" dirty="0">
              <a:solidFill>
                <a:schemeClr val="tx1"/>
              </a:solidFill>
              <a:latin typeface="Franklin Gothic Demi" panose="020B0703020102020204" pitchFamily="34" charset="0"/>
            </a:endParaRP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Enhances high-frequency edge information, making object boundaries sharper and more defined.</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3BAE00AA-0721-72CF-0F2F-C966F25B568A}"/>
              </a:ext>
            </a:extLst>
          </p:cNvPr>
          <p:cNvSpPr txBox="1"/>
          <p:nvPr/>
        </p:nvSpPr>
        <p:spPr>
          <a:xfrm>
            <a:off x="4263152" y="2460726"/>
            <a:ext cx="4890620" cy="2246769"/>
          </a:xfrm>
          <a:prstGeom prst="rect">
            <a:avLst/>
          </a:prstGeom>
          <a:noFill/>
        </p:spPr>
        <p:txBody>
          <a:bodyPr wrap="square" rtlCol="0">
            <a:spAutoFit/>
          </a:bodyPr>
          <a:lstStyle/>
          <a:p>
            <a:r>
              <a:rPr lang="en-US" sz="2400" b="1" dirty="0">
                <a:solidFill>
                  <a:srgbClr val="002060"/>
                </a:solidFill>
                <a:latin typeface="Franklin Gothic Demi" panose="020B0703020102020204" pitchFamily="34" charset="0"/>
                <a:ea typeface="Montserrat Bold" pitchFamily="34" charset="-122"/>
                <a:cs typeface="Montserrat Bold" pitchFamily="34" charset="-120"/>
              </a:rPr>
              <a:t>&gt; Laplacian Filtering</a:t>
            </a:r>
          </a:p>
          <a:p>
            <a:endParaRPr lang="en-US" sz="2400" b="1" dirty="0">
              <a:solidFill>
                <a:schemeClr val="tx1"/>
              </a:solidFill>
              <a:latin typeface="Franklin Gothic Demi" panose="020B0703020102020204" pitchFamily="34" charset="0"/>
              <a:ea typeface="Montserrat Bold" pitchFamily="34" charset="-122"/>
              <a:cs typeface="Montserrat Bold" pitchFamily="34" charset="-120"/>
            </a:endParaRP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Detects intensity changes and edges while enhancing fine image details and structural features.</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latin typeface="Franklin Gothic Demi" panose="020B0703020102020204" pitchFamily="34" charset="0"/>
            </a:endParaRPr>
          </a:p>
          <a:p>
            <a:endParaRPr lang="en-IN" dirty="0"/>
          </a:p>
        </p:txBody>
      </p:sp>
      <p:sp>
        <p:nvSpPr>
          <p:cNvPr id="11" name="TextBox 10">
            <a:extLst>
              <a:ext uri="{FF2B5EF4-FFF2-40B4-BE49-F238E27FC236}">
                <a16:creationId xmlns:a16="http://schemas.microsoft.com/office/drawing/2014/main" id="{5388787D-3136-3EAF-B4D8-94E8AE5B7EFD}"/>
              </a:ext>
            </a:extLst>
          </p:cNvPr>
          <p:cNvSpPr txBox="1"/>
          <p:nvPr/>
        </p:nvSpPr>
        <p:spPr>
          <a:xfrm>
            <a:off x="306572" y="4595253"/>
            <a:ext cx="5027781" cy="1969770"/>
          </a:xfrm>
          <a:prstGeom prst="rect">
            <a:avLst/>
          </a:prstGeom>
          <a:noFill/>
        </p:spPr>
        <p:txBody>
          <a:bodyPr wrap="square" rtlCol="0">
            <a:spAutoFit/>
          </a:bodyPr>
          <a:lstStyle/>
          <a:p>
            <a:r>
              <a:rPr lang="en-US" sz="2400" b="1" dirty="0">
                <a:solidFill>
                  <a:srgbClr val="002060"/>
                </a:solidFill>
                <a:latin typeface="Franklin Gothic Demi" panose="020B0703020102020204" pitchFamily="34" charset="0"/>
                <a:ea typeface="Montserrat Bold" pitchFamily="34" charset="-122"/>
                <a:cs typeface="Montserrat Bold" pitchFamily="34" charset="-120"/>
              </a:rPr>
              <a:t>&gt; High Boost Filtering</a:t>
            </a:r>
          </a:p>
          <a:p>
            <a:endParaRPr lang="en-US" sz="2400" b="1" dirty="0">
              <a:solidFill>
                <a:schemeClr val="tx1"/>
              </a:solidFill>
              <a:latin typeface="Franklin Gothic Demi" panose="020B0703020102020204" pitchFamily="34" charset="0"/>
              <a:ea typeface="Montserrat Bold" pitchFamily="34" charset="-122"/>
              <a:cs typeface="Montserrat Bold" pitchFamily="34" charset="-120"/>
            </a:endParaRPr>
          </a:p>
          <a:p>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Sharpens image while preserving low-frequency regions for balanced enhancement results.</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latin typeface="Franklin Gothic Demi" panose="020B0703020102020204" pitchFamily="34" charset="0"/>
            </a:endParaRPr>
          </a:p>
          <a:p>
            <a:endParaRPr lang="en-IN" dirty="0"/>
          </a:p>
        </p:txBody>
      </p:sp>
      <p:sp>
        <p:nvSpPr>
          <p:cNvPr id="13" name="TextBox 12">
            <a:extLst>
              <a:ext uri="{FF2B5EF4-FFF2-40B4-BE49-F238E27FC236}">
                <a16:creationId xmlns:a16="http://schemas.microsoft.com/office/drawing/2014/main" id="{CB9DC892-5AFB-DB35-6C28-97209CB4C22E}"/>
              </a:ext>
            </a:extLst>
          </p:cNvPr>
          <p:cNvSpPr txBox="1"/>
          <p:nvPr/>
        </p:nvSpPr>
        <p:spPr>
          <a:xfrm>
            <a:off x="7044308" y="6401218"/>
            <a:ext cx="4706313" cy="52322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Image to show detail sharpening technique.</a:t>
            </a:r>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10607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ED2A-2861-5E67-A777-9C2B0DC8DCF7}"/>
              </a:ext>
            </a:extLst>
          </p:cNvPr>
          <p:cNvSpPr>
            <a:spLocks noGrp="1"/>
          </p:cNvSpPr>
          <p:nvPr>
            <p:ph type="title"/>
          </p:nvPr>
        </p:nvSpPr>
        <p:spPr>
          <a:xfrm>
            <a:off x="361507" y="932660"/>
            <a:ext cx="11504428" cy="779182"/>
          </a:xfrm>
        </p:spPr>
        <p:txBody>
          <a:bodyPr/>
          <a:lstStyle/>
          <a:p>
            <a:r>
              <a:rPr lang="en-IN" b="1" dirty="0">
                <a:solidFill>
                  <a:schemeClr val="tx1"/>
                </a:solidFill>
                <a:latin typeface="Times New Roman" panose="02020603050405020304" pitchFamily="18" charset="0"/>
                <a:cs typeface="Times New Roman" panose="02020603050405020304" pitchFamily="18" charset="0"/>
              </a:rPr>
              <a:t>Contrast Enhancement </a:t>
            </a:r>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&amp; Methodology</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2E41C89-CA38-7E18-D51D-27FA2D98217D}"/>
              </a:ext>
            </a:extLst>
          </p:cNvPr>
          <p:cNvSpPr>
            <a:spLocks noGrp="1"/>
          </p:cNvSpPr>
          <p:nvPr>
            <p:ph type="body" idx="1"/>
          </p:nvPr>
        </p:nvSpPr>
        <p:spPr>
          <a:xfrm>
            <a:off x="361507" y="1601393"/>
            <a:ext cx="11389113" cy="890275"/>
          </a:xfrm>
        </p:spPr>
        <p:txBody>
          <a:bodyPr>
            <a:normAutofit fontScale="55000" lnSpcReduction="20000"/>
          </a:bodyPr>
          <a:lstStyle/>
          <a:p>
            <a:pPr marL="114300" indent="0">
              <a:buNone/>
            </a:pPr>
            <a:r>
              <a:rPr lang="en-US" sz="3900" dirty="0">
                <a:solidFill>
                  <a:schemeClr val="tx1"/>
                </a:solidFill>
                <a:latin typeface="Times New Roman" panose="02020603050405020304" pitchFamily="18" charset="0"/>
                <a:ea typeface="Source Sans 3" pitchFamily="34" charset="-122"/>
                <a:cs typeface="Times New Roman" panose="02020603050405020304" pitchFamily="18" charset="0"/>
              </a:rPr>
              <a:t>Contrast enhancement improves image visibility by expanding intensity differences between objects and background regions. Multiple techniques work together to produce optimal results.</a:t>
            </a:r>
            <a:endParaRPr lang="en-US" sz="39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dirty="0"/>
          </a:p>
        </p:txBody>
      </p:sp>
      <p:sp>
        <p:nvSpPr>
          <p:cNvPr id="4" name="TextBox 3">
            <a:extLst>
              <a:ext uri="{FF2B5EF4-FFF2-40B4-BE49-F238E27FC236}">
                <a16:creationId xmlns:a16="http://schemas.microsoft.com/office/drawing/2014/main" id="{0BFD0714-90AB-EA70-E7DF-8F1DBD310BC2}"/>
              </a:ext>
            </a:extLst>
          </p:cNvPr>
          <p:cNvSpPr txBox="1"/>
          <p:nvPr/>
        </p:nvSpPr>
        <p:spPr>
          <a:xfrm>
            <a:off x="595423" y="2583742"/>
            <a:ext cx="2557131" cy="1015663"/>
          </a:xfrm>
          <a:prstGeom prst="rect">
            <a:avLst/>
          </a:prstGeom>
          <a:noFill/>
        </p:spPr>
        <p:txBody>
          <a:bodyPr wrap="square" rtlCol="0">
            <a:spAutoFit/>
          </a:bodyPr>
          <a:lstStyle/>
          <a:p>
            <a:r>
              <a:rPr lang="en-US" b="1" dirty="0">
                <a:solidFill>
                  <a:schemeClr val="accent3">
                    <a:lumMod val="50000"/>
                  </a:schemeClr>
                </a:solidFill>
                <a:latin typeface="Montserrat Bold" pitchFamily="34" charset="0"/>
                <a:ea typeface="Montserrat Bold" pitchFamily="34" charset="-122"/>
                <a:cs typeface="Montserrat Bold" pitchFamily="34" charset="-120"/>
              </a:rPr>
              <a:t>&lt;&gt; Input Image</a:t>
            </a:r>
            <a:endParaRPr lang="en-US" dirty="0">
              <a:solidFill>
                <a:schemeClr val="accent3">
                  <a:lumMod val="50000"/>
                </a:schemeClr>
              </a:solidFill>
            </a:endParaRP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Low contrast underwater image</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DFC48AC6-963B-3E11-9220-A9A1EE0AA958}"/>
              </a:ext>
            </a:extLst>
          </p:cNvPr>
          <p:cNvSpPr txBox="1"/>
          <p:nvPr/>
        </p:nvSpPr>
        <p:spPr>
          <a:xfrm>
            <a:off x="595423" y="3447175"/>
            <a:ext cx="2376378" cy="769441"/>
          </a:xfrm>
          <a:prstGeom prst="rect">
            <a:avLst/>
          </a:prstGeom>
          <a:noFill/>
        </p:spPr>
        <p:txBody>
          <a:bodyPr wrap="square" rtlCol="0">
            <a:spAutoFit/>
          </a:bodyPr>
          <a:lstStyle/>
          <a:p>
            <a:r>
              <a:rPr lang="en-US" b="1" dirty="0">
                <a:solidFill>
                  <a:schemeClr val="accent3">
                    <a:lumMod val="50000"/>
                  </a:schemeClr>
                </a:solidFill>
                <a:latin typeface="Montserrat Bold" pitchFamily="34" charset="0"/>
                <a:ea typeface="Montserrat Bold" pitchFamily="34" charset="-122"/>
                <a:cs typeface="Montserrat Bold" pitchFamily="34" charset="-120"/>
              </a:rPr>
              <a:t>&lt;&gt; Color Correction</a:t>
            </a:r>
            <a:endParaRPr lang="en-US" dirty="0">
              <a:solidFill>
                <a:schemeClr val="accent3">
                  <a:lumMod val="50000"/>
                </a:schemeClr>
              </a:solidFill>
            </a:endParaRP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Restore natural colors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93640FE1-5183-263C-ABA5-29BA6DFF0BDB}"/>
              </a:ext>
            </a:extLst>
          </p:cNvPr>
          <p:cNvSpPr txBox="1"/>
          <p:nvPr/>
        </p:nvSpPr>
        <p:spPr>
          <a:xfrm>
            <a:off x="478466" y="4185840"/>
            <a:ext cx="3094074" cy="984885"/>
          </a:xfrm>
          <a:prstGeom prst="rect">
            <a:avLst/>
          </a:prstGeom>
          <a:noFill/>
        </p:spPr>
        <p:txBody>
          <a:bodyPr wrap="square" rtlCol="0">
            <a:spAutoFit/>
          </a:bodyPr>
          <a:lstStyle/>
          <a:p>
            <a:r>
              <a:rPr lang="en-US" b="1" dirty="0">
                <a:solidFill>
                  <a:schemeClr val="accent3">
                    <a:lumMod val="50000"/>
                  </a:schemeClr>
                </a:solidFill>
                <a:latin typeface="Montserrat Bold" pitchFamily="34" charset="0"/>
                <a:ea typeface="Montserrat Bold" pitchFamily="34" charset="-122"/>
                <a:cs typeface="Montserrat Bold" pitchFamily="34" charset="-120"/>
              </a:rPr>
              <a:t>&lt;&gt; </a:t>
            </a:r>
            <a:r>
              <a:rPr lang="en-US" b="1" dirty="0" err="1">
                <a:solidFill>
                  <a:schemeClr val="accent3">
                    <a:lumMod val="50000"/>
                  </a:schemeClr>
                </a:solidFill>
                <a:latin typeface="Montserrat Bold" pitchFamily="34" charset="0"/>
                <a:ea typeface="Montserrat Bold" pitchFamily="34" charset="-122"/>
                <a:cs typeface="Montserrat Bold" pitchFamily="34" charset="-120"/>
              </a:rPr>
              <a:t>Retinex</a:t>
            </a:r>
            <a:r>
              <a:rPr lang="en-US" b="1" dirty="0">
                <a:solidFill>
                  <a:schemeClr val="accent3">
                    <a:lumMod val="50000"/>
                  </a:schemeClr>
                </a:solidFill>
                <a:latin typeface="Montserrat Bold" pitchFamily="34" charset="0"/>
                <a:ea typeface="Montserrat Bold" pitchFamily="34" charset="-122"/>
                <a:cs typeface="Montserrat Bold" pitchFamily="34" charset="-120"/>
              </a:rPr>
              <a:t> Enhancement</a:t>
            </a: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Improve illumination</a:t>
            </a:r>
            <a:endParaRPr lang="en-US" sz="16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IN" dirty="0"/>
          </a:p>
        </p:txBody>
      </p:sp>
      <p:sp>
        <p:nvSpPr>
          <p:cNvPr id="9" name="TextBox 8">
            <a:extLst>
              <a:ext uri="{FF2B5EF4-FFF2-40B4-BE49-F238E27FC236}">
                <a16:creationId xmlns:a16="http://schemas.microsoft.com/office/drawing/2014/main" id="{5DD68C09-7B79-DC34-20C5-C3F1651B2E17}"/>
              </a:ext>
            </a:extLst>
          </p:cNvPr>
          <p:cNvSpPr txBox="1"/>
          <p:nvPr/>
        </p:nvSpPr>
        <p:spPr>
          <a:xfrm>
            <a:off x="590106" y="4833830"/>
            <a:ext cx="2472070" cy="1015663"/>
          </a:xfrm>
          <a:prstGeom prst="rect">
            <a:avLst/>
          </a:prstGeom>
          <a:noFill/>
        </p:spPr>
        <p:txBody>
          <a:bodyPr wrap="square" rtlCol="0">
            <a:spAutoFit/>
          </a:bodyPr>
          <a:lstStyle/>
          <a:p>
            <a:r>
              <a:rPr lang="en-US" b="1" dirty="0">
                <a:solidFill>
                  <a:schemeClr val="accent3">
                    <a:lumMod val="50000"/>
                  </a:schemeClr>
                </a:solidFill>
                <a:latin typeface="Montserrat Bold" pitchFamily="34" charset="0"/>
                <a:ea typeface="Montserrat Bold" pitchFamily="34" charset="-122"/>
                <a:cs typeface="Montserrat Bold" pitchFamily="34" charset="-120"/>
              </a:rPr>
              <a:t>&lt;&gt; Gaussian Pyramid</a:t>
            </a: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Enhance details</a:t>
            </a:r>
            <a:endParaRPr lang="en-US" sz="16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IN" dirty="0"/>
          </a:p>
        </p:txBody>
      </p:sp>
      <p:sp>
        <p:nvSpPr>
          <p:cNvPr id="11" name="TextBox 10">
            <a:extLst>
              <a:ext uri="{FF2B5EF4-FFF2-40B4-BE49-F238E27FC236}">
                <a16:creationId xmlns:a16="http://schemas.microsoft.com/office/drawing/2014/main" id="{1A58B23A-4937-13CA-EB9E-3A52720042BF}"/>
              </a:ext>
            </a:extLst>
          </p:cNvPr>
          <p:cNvSpPr txBox="1"/>
          <p:nvPr/>
        </p:nvSpPr>
        <p:spPr>
          <a:xfrm>
            <a:off x="547577" y="5556008"/>
            <a:ext cx="2472070" cy="769441"/>
          </a:xfrm>
          <a:prstGeom prst="rect">
            <a:avLst/>
          </a:prstGeom>
          <a:noFill/>
        </p:spPr>
        <p:txBody>
          <a:bodyPr wrap="square" rtlCol="0">
            <a:spAutoFit/>
          </a:bodyPr>
          <a:lstStyle/>
          <a:p>
            <a:r>
              <a:rPr lang="en-US" b="1" dirty="0">
                <a:solidFill>
                  <a:schemeClr val="accent3">
                    <a:lumMod val="50000"/>
                  </a:schemeClr>
                </a:solidFill>
                <a:latin typeface="Montserrat Bold" pitchFamily="34" charset="0"/>
                <a:ea typeface="Montserrat Bold" pitchFamily="34" charset="-122"/>
                <a:cs typeface="Montserrat Bold" pitchFamily="34" charset="-120"/>
              </a:rPr>
              <a:t>&lt;&gt; CLAHE</a:t>
            </a:r>
          </a:p>
          <a:p>
            <a:r>
              <a:rPr lang="en-US" sz="1600" dirty="0">
                <a:solidFill>
                  <a:schemeClr val="tx1"/>
                </a:solidFill>
                <a:latin typeface="Times New Roman" panose="02020603050405020304" pitchFamily="18" charset="0"/>
                <a:ea typeface="Source Sans 3" pitchFamily="34" charset="-122"/>
                <a:cs typeface="Times New Roman" panose="02020603050405020304" pitchFamily="18" charset="0"/>
              </a:rPr>
              <a:t>Final enhancement</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p:txBody>
      </p:sp>
      <p:pic>
        <p:nvPicPr>
          <p:cNvPr id="13" name="Image 3">
            <a:extLst>
              <a:ext uri="{FF2B5EF4-FFF2-40B4-BE49-F238E27FC236}">
                <a16:creationId xmlns:a16="http://schemas.microsoft.com/office/drawing/2014/main" id="{8DE0E0F8-09CB-D450-26C8-D941C2E26D48}"/>
              </a:ext>
            </a:extLst>
          </p:cNvPr>
          <p:cNvPicPr>
            <a:picLocks/>
          </p:cNvPicPr>
          <p:nvPr/>
        </p:nvPicPr>
        <p:blipFill>
          <a:blip r:embed="rId2" cstate="print"/>
          <a:stretch>
            <a:fillRect/>
          </a:stretch>
        </p:blipFill>
        <p:spPr>
          <a:xfrm>
            <a:off x="7489928" y="4529613"/>
            <a:ext cx="3876276" cy="1871242"/>
          </a:xfrm>
          <a:prstGeom prst="rect">
            <a:avLst/>
          </a:prstGeom>
        </p:spPr>
      </p:pic>
      <p:pic>
        <p:nvPicPr>
          <p:cNvPr id="14" name="Image 4">
            <a:extLst>
              <a:ext uri="{FF2B5EF4-FFF2-40B4-BE49-F238E27FC236}">
                <a16:creationId xmlns:a16="http://schemas.microsoft.com/office/drawing/2014/main" id="{50CFEAEB-4670-9E1D-1F62-4930DE9CE682}"/>
              </a:ext>
            </a:extLst>
          </p:cNvPr>
          <p:cNvPicPr>
            <a:picLocks/>
          </p:cNvPicPr>
          <p:nvPr/>
        </p:nvPicPr>
        <p:blipFill>
          <a:blip r:embed="rId3" cstate="print"/>
          <a:stretch>
            <a:fillRect/>
          </a:stretch>
        </p:blipFill>
        <p:spPr>
          <a:xfrm>
            <a:off x="7397926" y="2293918"/>
            <a:ext cx="3876276" cy="1758879"/>
          </a:xfrm>
          <a:prstGeom prst="rect">
            <a:avLst/>
          </a:prstGeom>
        </p:spPr>
      </p:pic>
      <p:pic>
        <p:nvPicPr>
          <p:cNvPr id="15" name="Image 5">
            <a:extLst>
              <a:ext uri="{FF2B5EF4-FFF2-40B4-BE49-F238E27FC236}">
                <a16:creationId xmlns:a16="http://schemas.microsoft.com/office/drawing/2014/main" id="{E4B232AA-3068-19D5-FDB2-392041D01492}"/>
              </a:ext>
            </a:extLst>
          </p:cNvPr>
          <p:cNvPicPr>
            <a:picLocks/>
          </p:cNvPicPr>
          <p:nvPr/>
        </p:nvPicPr>
        <p:blipFill>
          <a:blip r:embed="rId4" cstate="print"/>
          <a:stretch>
            <a:fillRect/>
          </a:stretch>
        </p:blipFill>
        <p:spPr>
          <a:xfrm>
            <a:off x="3572539" y="4529613"/>
            <a:ext cx="3678866" cy="1871242"/>
          </a:xfrm>
          <a:prstGeom prst="rect">
            <a:avLst/>
          </a:prstGeom>
        </p:spPr>
      </p:pic>
      <p:pic>
        <p:nvPicPr>
          <p:cNvPr id="16" name="Picture 15" descr="Underwater view on blue surface of water">
            <a:extLst>
              <a:ext uri="{FF2B5EF4-FFF2-40B4-BE49-F238E27FC236}">
                <a16:creationId xmlns:a16="http://schemas.microsoft.com/office/drawing/2014/main" id="{C65B0F2F-001B-E9DF-DBBD-D1B5D1DDB5F9}"/>
              </a:ext>
            </a:extLst>
          </p:cNvPr>
          <p:cNvPicPr>
            <a:picLocks noChangeAspect="1"/>
          </p:cNvPicPr>
          <p:nvPr/>
        </p:nvPicPr>
        <p:blipFill>
          <a:blip r:embed="rId5"/>
          <a:stretch>
            <a:fillRect/>
          </a:stretch>
        </p:blipFill>
        <p:spPr>
          <a:xfrm>
            <a:off x="3712144" y="2391749"/>
            <a:ext cx="3495349" cy="1760967"/>
          </a:xfrm>
          <a:prstGeom prst="rect">
            <a:avLst/>
          </a:prstGeom>
        </p:spPr>
      </p:pic>
      <p:sp>
        <p:nvSpPr>
          <p:cNvPr id="17" name="TextBox 16">
            <a:extLst>
              <a:ext uri="{FF2B5EF4-FFF2-40B4-BE49-F238E27FC236}">
                <a16:creationId xmlns:a16="http://schemas.microsoft.com/office/drawing/2014/main" id="{41EEEB5E-CC8F-E137-A79C-6DA72AB4B4C2}"/>
              </a:ext>
            </a:extLst>
          </p:cNvPr>
          <p:cNvSpPr txBox="1"/>
          <p:nvPr/>
        </p:nvSpPr>
        <p:spPr>
          <a:xfrm>
            <a:off x="3947447" y="4110815"/>
            <a:ext cx="3269512" cy="523220"/>
          </a:xfrm>
          <a:prstGeom prst="rect">
            <a:avLst/>
          </a:prstGeom>
          <a:noFill/>
        </p:spPr>
        <p:txBody>
          <a:bodyPr wrap="square" rtlCol="0">
            <a:spAutoFit/>
          </a:bodyPr>
          <a:lstStyle/>
          <a:p>
            <a:r>
              <a:rPr lang="en-US" b="1" dirty="0">
                <a:solidFill>
                  <a:schemeClr val="tx1"/>
                </a:solidFill>
                <a:latin typeface="+mn-lt"/>
                <a:ea typeface="Source Sans 3" pitchFamily="34" charset="-122"/>
                <a:cs typeface="Source Sans 3" pitchFamily="34" charset="-120"/>
              </a:rPr>
              <a:t>Low contrast underwater image</a:t>
            </a:r>
            <a:endParaRPr lang="en-US" b="1" dirty="0">
              <a:solidFill>
                <a:schemeClr val="tx1"/>
              </a:solidFill>
              <a:latin typeface="+mn-lt"/>
            </a:endParaRPr>
          </a:p>
          <a:p>
            <a:endParaRPr lang="en-IN" dirty="0"/>
          </a:p>
        </p:txBody>
      </p:sp>
      <p:sp>
        <p:nvSpPr>
          <p:cNvPr id="19" name="TextBox 18">
            <a:extLst>
              <a:ext uri="{FF2B5EF4-FFF2-40B4-BE49-F238E27FC236}">
                <a16:creationId xmlns:a16="http://schemas.microsoft.com/office/drawing/2014/main" id="{B5C6419F-DB62-FFF3-2911-788421059093}"/>
              </a:ext>
            </a:extLst>
          </p:cNvPr>
          <p:cNvSpPr txBox="1"/>
          <p:nvPr/>
        </p:nvSpPr>
        <p:spPr>
          <a:xfrm>
            <a:off x="8004336" y="4145535"/>
            <a:ext cx="2663456" cy="523220"/>
          </a:xfrm>
          <a:prstGeom prst="rect">
            <a:avLst/>
          </a:prstGeom>
          <a:noFill/>
        </p:spPr>
        <p:txBody>
          <a:bodyPr wrap="square" rtlCol="0">
            <a:spAutoFit/>
          </a:bodyPr>
          <a:lstStyle/>
          <a:p>
            <a:r>
              <a:rPr lang="en-US" b="1" dirty="0">
                <a:solidFill>
                  <a:schemeClr val="tx1"/>
                </a:solidFill>
                <a:latin typeface="Source Sans 3" pitchFamily="34" charset="0"/>
                <a:ea typeface="Source Sans 3" pitchFamily="34" charset="-122"/>
                <a:cs typeface="Source Sans 3" pitchFamily="34" charset="-120"/>
              </a:rPr>
              <a:t>Restore natural </a:t>
            </a:r>
            <a:r>
              <a:rPr lang="en-US" b="1" dirty="0">
                <a:solidFill>
                  <a:schemeClr val="tx1"/>
                </a:solidFill>
                <a:latin typeface="+mn-lt"/>
                <a:ea typeface="Source Sans 3" pitchFamily="34" charset="-122"/>
                <a:cs typeface="Source Sans 3" pitchFamily="34" charset="-120"/>
              </a:rPr>
              <a:t>colors</a:t>
            </a:r>
            <a:endParaRPr lang="en-US" b="1" dirty="0">
              <a:solidFill>
                <a:schemeClr val="tx1"/>
              </a:solidFill>
              <a:latin typeface="+mn-lt"/>
            </a:endParaRPr>
          </a:p>
          <a:p>
            <a:endParaRPr lang="en-IN" dirty="0"/>
          </a:p>
        </p:txBody>
      </p:sp>
      <p:sp>
        <p:nvSpPr>
          <p:cNvPr id="21" name="TextBox 20">
            <a:extLst>
              <a:ext uri="{FF2B5EF4-FFF2-40B4-BE49-F238E27FC236}">
                <a16:creationId xmlns:a16="http://schemas.microsoft.com/office/drawing/2014/main" id="{7B76E395-1E96-AC49-525D-877E9A5DEF8C}"/>
              </a:ext>
            </a:extLst>
          </p:cNvPr>
          <p:cNvSpPr txBox="1"/>
          <p:nvPr/>
        </p:nvSpPr>
        <p:spPr>
          <a:xfrm>
            <a:off x="4370623" y="6400855"/>
            <a:ext cx="2363764" cy="523220"/>
          </a:xfrm>
          <a:prstGeom prst="rect">
            <a:avLst/>
          </a:prstGeom>
          <a:noFill/>
        </p:spPr>
        <p:txBody>
          <a:bodyPr wrap="square" rtlCol="0">
            <a:spAutoFit/>
          </a:bodyPr>
          <a:lstStyle/>
          <a:p>
            <a:r>
              <a:rPr lang="en-US" b="1" dirty="0">
                <a:solidFill>
                  <a:schemeClr val="tx1"/>
                </a:solidFill>
                <a:latin typeface="+mj-lt"/>
                <a:ea typeface="Source Sans 3" pitchFamily="34" charset="-122"/>
                <a:cs typeface="Source Sans 3" pitchFamily="34" charset="-120"/>
              </a:rPr>
              <a:t>Improve illumination</a:t>
            </a:r>
            <a:endParaRPr lang="en-US" b="1" dirty="0">
              <a:solidFill>
                <a:schemeClr val="tx1"/>
              </a:solidFill>
              <a:latin typeface="+mj-lt"/>
            </a:endParaRPr>
          </a:p>
          <a:p>
            <a:endParaRPr lang="en-IN" dirty="0"/>
          </a:p>
        </p:txBody>
      </p:sp>
      <p:sp>
        <p:nvSpPr>
          <p:cNvPr id="23" name="TextBox 22">
            <a:extLst>
              <a:ext uri="{FF2B5EF4-FFF2-40B4-BE49-F238E27FC236}">
                <a16:creationId xmlns:a16="http://schemas.microsoft.com/office/drawing/2014/main" id="{3D86CAF8-10F4-C910-957A-558DE4EFBAF7}"/>
              </a:ext>
            </a:extLst>
          </p:cNvPr>
          <p:cNvSpPr txBox="1"/>
          <p:nvPr/>
        </p:nvSpPr>
        <p:spPr>
          <a:xfrm>
            <a:off x="8436935" y="6400855"/>
            <a:ext cx="2589028" cy="523220"/>
          </a:xfrm>
          <a:prstGeom prst="rect">
            <a:avLst/>
          </a:prstGeom>
          <a:noFill/>
        </p:spPr>
        <p:txBody>
          <a:bodyPr wrap="square" rtlCol="0">
            <a:spAutoFit/>
          </a:bodyPr>
          <a:lstStyle/>
          <a:p>
            <a:r>
              <a:rPr lang="en-US" b="1" dirty="0">
                <a:solidFill>
                  <a:schemeClr val="tx1"/>
                </a:solidFill>
                <a:latin typeface="Source Sans 3" pitchFamily="34" charset="0"/>
                <a:ea typeface="Source Sans 3" pitchFamily="34" charset="-122"/>
                <a:cs typeface="Source Sans 3" pitchFamily="34" charset="-120"/>
              </a:rPr>
              <a:t>Final enhancement</a:t>
            </a:r>
            <a:endParaRPr lang="en-US" b="1" dirty="0">
              <a:solidFill>
                <a:schemeClr val="tx1"/>
              </a:solidFill>
            </a:endParaRPr>
          </a:p>
          <a:p>
            <a:endParaRPr lang="en-IN" dirty="0"/>
          </a:p>
        </p:txBody>
      </p:sp>
    </p:spTree>
    <p:extLst>
      <p:ext uri="{BB962C8B-B14F-4D97-AF65-F5344CB8AC3E}">
        <p14:creationId xmlns:p14="http://schemas.microsoft.com/office/powerpoint/2010/main" val="172980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037E3-6EEF-0EA4-49A7-7AEA97BA321A}"/>
              </a:ext>
            </a:extLst>
          </p:cNvPr>
          <p:cNvSpPr>
            <a:spLocks noGrp="1"/>
          </p:cNvSpPr>
          <p:nvPr>
            <p:ph type="title"/>
          </p:nvPr>
        </p:nvSpPr>
        <p:spPr>
          <a:xfrm>
            <a:off x="637953" y="932660"/>
            <a:ext cx="11114441" cy="1066262"/>
          </a:xfrm>
        </p:spPr>
        <p:txBody>
          <a:bodyPr>
            <a:normAutofit fontScale="90000"/>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Gamma Correction</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F9EDA9C-50FB-66D1-DC57-F1947F3E3F1D}"/>
              </a:ext>
            </a:extLst>
          </p:cNvPr>
          <p:cNvSpPr>
            <a:spLocks noGrp="1"/>
          </p:cNvSpPr>
          <p:nvPr>
            <p:ph type="body" idx="1"/>
          </p:nvPr>
        </p:nvSpPr>
        <p:spPr>
          <a:xfrm>
            <a:off x="723015" y="1531088"/>
            <a:ext cx="11027606" cy="4825262"/>
          </a:xfrm>
        </p:spPr>
        <p:txBody>
          <a:bodyPr/>
          <a:lstStyle/>
          <a:p>
            <a:pPr marL="114300" indent="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Adjusts image brightness using power-law transformation with controllable intensity.</a:t>
            </a:r>
            <a:endParaRPr lang="en-US" sz="20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2C5B541-18C2-2779-1240-B73BDA5E2568}"/>
                  </a:ext>
                </a:extLst>
              </p:cNvPr>
              <p:cNvSpPr txBox="1"/>
              <p:nvPr/>
            </p:nvSpPr>
            <p:spPr>
              <a:xfrm>
                <a:off x="721242" y="2352708"/>
                <a:ext cx="4740397" cy="824521"/>
              </a:xfrm>
              <a:prstGeom prst="rect">
                <a:avLst/>
              </a:prstGeom>
              <a:noFill/>
            </p:spPr>
            <p:txBody>
              <a:bodyPr wrap="square" lIns="0" tIns="0" rIns="0" bIns="0" rtlCol="0">
                <a:spAutoFit/>
              </a:bodyPr>
              <a:lstStyle/>
              <a:p>
                <a:pPr/>
                <a14:m>
                  <m:oMathPara xmlns:m="http://schemas.openxmlformats.org/officeDocument/2006/math">
                    <m:oMath>
                      <m:sSub>
                        <m:sSubPr>
                          <m:ctrlPr>
                            <a:rPr lang="en-IN" sz="4800" b="1" i="1" smtClean="0">
                              <a:latin typeface="Cambria Math" panose="02040503050406030204" pitchFamily="18" charset="0"/>
                            </a:rPr>
                          </m:ctrlPr>
                        </m:sSubPr>
                        <m:e>
                          <m:r>
                            <a:rPr lang="en-IN" sz="4800" b="1" i="1" smtClean="0">
                              <a:latin typeface="Cambria Math" panose="02040503050406030204" pitchFamily="18" charset="0"/>
                            </a:rPr>
                            <m:t>𝑽</m:t>
                          </m:r>
                        </m:e>
                        <m:sub>
                          <m:r>
                            <a:rPr lang="en-IN" sz="4800" b="1" i="1" smtClean="0">
                              <a:latin typeface="Cambria Math" panose="02040503050406030204" pitchFamily="18" charset="0"/>
                            </a:rPr>
                            <m:t>𝑶𝑼𝒕</m:t>
                          </m:r>
                        </m:sub>
                      </m:sSub>
                      <m:r>
                        <a:rPr lang="en-IN" sz="4800" b="1" i="1" smtClean="0">
                          <a:latin typeface="Cambria Math" panose="02040503050406030204" pitchFamily="18" charset="0"/>
                        </a:rPr>
                        <m:t>=</m:t>
                      </m:r>
                      <m:r>
                        <a:rPr lang="en-IN" sz="4800" b="1" i="1" smtClean="0">
                          <a:latin typeface="Cambria Math" panose="02040503050406030204" pitchFamily="18" charset="0"/>
                        </a:rPr>
                        <m:t>𝑨</m:t>
                      </m:r>
                      <m:r>
                        <a:rPr lang="en-IN" sz="4800" b="1" i="1" smtClean="0">
                          <a:latin typeface="Cambria Math" panose="02040503050406030204" pitchFamily="18" charset="0"/>
                        </a:rPr>
                        <m:t>⋅</m:t>
                      </m:r>
                      <m:sSubSup>
                        <m:sSubSupPr>
                          <m:ctrlPr>
                            <a:rPr lang="en-IN" sz="4800" b="1" i="1" smtClean="0">
                              <a:latin typeface="Cambria Math" panose="02040503050406030204" pitchFamily="18" charset="0"/>
                            </a:rPr>
                          </m:ctrlPr>
                        </m:sSubSupPr>
                        <m:e>
                          <m:r>
                            <a:rPr lang="en-IN" sz="4800" b="1" i="1" smtClean="0">
                              <a:latin typeface="Cambria Math" panose="02040503050406030204" pitchFamily="18" charset="0"/>
                            </a:rPr>
                            <m:t>𝑽</m:t>
                          </m:r>
                        </m:e>
                        <m:sub>
                          <m:r>
                            <a:rPr lang="en-IN" sz="4800" b="1" i="1" smtClean="0">
                              <a:latin typeface="Cambria Math" panose="02040503050406030204" pitchFamily="18" charset="0"/>
                            </a:rPr>
                            <m:t>ⅈ</m:t>
                          </m:r>
                          <m:r>
                            <a:rPr lang="en-IN" sz="4800" b="1" i="1" smtClean="0">
                              <a:latin typeface="Cambria Math" panose="02040503050406030204" pitchFamily="18" charset="0"/>
                            </a:rPr>
                            <m:t>𝒏</m:t>
                          </m:r>
                        </m:sub>
                        <m:sup>
                          <m:r>
                            <a:rPr lang="en-IN" sz="4800" b="1" i="1" smtClean="0">
                              <a:latin typeface="Cambria Math" panose="02040503050406030204" pitchFamily="18" charset="0"/>
                            </a:rPr>
                            <m:t>𝜸</m:t>
                          </m:r>
                        </m:sup>
                      </m:sSubSup>
                    </m:oMath>
                  </m:oMathPara>
                </a14:m>
                <a:endParaRPr lang="en-IN" sz="4800" b="1" dirty="0"/>
              </a:p>
            </p:txBody>
          </p:sp>
        </mc:Choice>
        <mc:Fallback xmlns="">
          <p:sp>
            <p:nvSpPr>
              <p:cNvPr id="4" name="TextBox 3">
                <a:extLst>
                  <a:ext uri="{FF2B5EF4-FFF2-40B4-BE49-F238E27FC236}">
                    <a16:creationId xmlns:a16="http://schemas.microsoft.com/office/drawing/2014/main" id="{12C5B541-18C2-2779-1240-B73BDA5E2568}"/>
                  </a:ext>
                </a:extLst>
              </p:cNvPr>
              <p:cNvSpPr txBox="1">
                <a:spLocks noRot="1" noChangeAspect="1" noMove="1" noResize="1" noEditPoints="1" noAdjustHandles="1" noChangeArrowheads="1" noChangeShapeType="1" noTextEdit="1"/>
              </p:cNvSpPr>
              <p:nvPr/>
            </p:nvSpPr>
            <p:spPr>
              <a:xfrm>
                <a:off x="721242" y="2352708"/>
                <a:ext cx="4740397" cy="824521"/>
              </a:xfrm>
              <a:prstGeom prst="rect">
                <a:avLst/>
              </a:prstGeom>
              <a:blipFill>
                <a:blip r:embed="rId2"/>
                <a:stretch>
                  <a:fillRect/>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910A4643-7665-6EB7-77B5-E60FDC28B74B}"/>
              </a:ext>
            </a:extLst>
          </p:cNvPr>
          <p:cNvSpPr txBox="1"/>
          <p:nvPr/>
        </p:nvSpPr>
        <p:spPr>
          <a:xfrm>
            <a:off x="907311" y="3531016"/>
            <a:ext cx="1325479" cy="369332"/>
          </a:xfrm>
          <a:prstGeom prst="rect">
            <a:avLst/>
          </a:prstGeom>
          <a:noFill/>
        </p:spPr>
        <p:txBody>
          <a:bodyPr wrap="square" rtlCol="0">
            <a:spAutoFit/>
          </a:bodyPr>
          <a:lstStyle/>
          <a:p>
            <a:r>
              <a:rPr lang="en-IN" sz="1800" b="1" dirty="0">
                <a:solidFill>
                  <a:schemeClr val="tx1"/>
                </a:solidFill>
              </a:rPr>
              <a:t>Where:</a:t>
            </a:r>
          </a:p>
        </p:txBody>
      </p:sp>
      <p:sp>
        <p:nvSpPr>
          <p:cNvPr id="9" name="TextBox 8">
            <a:extLst>
              <a:ext uri="{FF2B5EF4-FFF2-40B4-BE49-F238E27FC236}">
                <a16:creationId xmlns:a16="http://schemas.microsoft.com/office/drawing/2014/main" id="{A3978E9F-B38E-280D-D61F-7678CEE5D88F}"/>
              </a:ext>
            </a:extLst>
          </p:cNvPr>
          <p:cNvSpPr txBox="1"/>
          <p:nvPr/>
        </p:nvSpPr>
        <p:spPr>
          <a:xfrm>
            <a:off x="5640572" y="2971800"/>
            <a:ext cx="914400" cy="914400"/>
          </a:xfrm>
          <a:prstGeom prst="rect">
            <a:avLst/>
          </a:prstGeom>
          <a:noFill/>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0AA88F-9661-7BB8-755F-28CACE81F926}"/>
                  </a:ext>
                </a:extLst>
              </p:cNvPr>
              <p:cNvSpPr txBox="1"/>
              <p:nvPr/>
            </p:nvSpPr>
            <p:spPr>
              <a:xfrm>
                <a:off x="637953" y="4135156"/>
                <a:ext cx="3099391" cy="307777"/>
              </a:xfrm>
              <a:prstGeom prst="rect">
                <a:avLst/>
              </a:prstGeom>
              <a:noFill/>
            </p:spPr>
            <p:txBody>
              <a:bodyPr wrap="square" lIns="0" tIns="0" rIns="0" bIns="0" rtlCol="0">
                <a:spAutoFit/>
              </a:bodyPr>
              <a:lstStyle/>
              <a:p>
                <a:pPr/>
                <a14:m>
                  <m:oMathPara xmlns:m="http://schemas.openxmlformats.org/officeDocument/2006/math">
                    <m:oMath>
                      <m:sSub>
                        <m:sSubPr>
                          <m:ctrlPr>
                            <a:rPr lang="en-IN" sz="2000" b="0" i="1">
                              <a:latin typeface="Cambria Math" panose="02040503050406030204" pitchFamily="18" charset="0"/>
                            </a:rPr>
                          </m:ctrlPr>
                        </m:sSubPr>
                        <m:e>
                          <m:r>
                            <a:rPr lang="en-IN" sz="2000" b="0" i="1">
                              <a:latin typeface="Cambria Math" panose="02040503050406030204" pitchFamily="18" charset="0"/>
                            </a:rPr>
                            <m:t>𝑣</m:t>
                          </m:r>
                        </m:e>
                        <m:sub>
                          <m:r>
                            <a:rPr lang="en-IN" sz="2000" b="0" i="1">
                              <a:latin typeface="Cambria Math" panose="02040503050406030204" pitchFamily="18" charset="0"/>
                            </a:rPr>
                            <m:t>𝑖𝑛</m:t>
                          </m:r>
                        </m:sub>
                      </m:sSub>
                      <m:r>
                        <a:rPr lang="en-US" sz="2000" b="0" i="0" smtClean="0">
                          <a:latin typeface="Cambria Math" panose="02040503050406030204" pitchFamily="18" charset="0"/>
                        </a:rPr>
                        <m:t>=</m:t>
                      </m:r>
                      <m:r>
                        <m:rPr>
                          <m:nor/>
                        </m:rPr>
                        <a:rPr lang="en-IN" sz="2000" i="0">
                          <a:latin typeface="Times New Roman" panose="02020603050405020304" pitchFamily="18" charset="0"/>
                          <a:cs typeface="Times New Roman" panose="02020603050405020304" pitchFamily="18" charset="0"/>
                        </a:rPr>
                        <m:t>Input pixel value</m:t>
                      </m:r>
                      <m:r>
                        <m:rPr>
                          <m:nor/>
                        </m:rPr>
                        <a:rPr lang="en-US" sz="2000" b="0" i="0" smtClean="0">
                          <a:latin typeface="Times New Roman" panose="02020603050405020304" pitchFamily="18" charset="0"/>
                          <a:cs typeface="Times New Roman" panose="02020603050405020304" pitchFamily="18" charset="0"/>
                        </a:rPr>
                        <m:t>.</m:t>
                      </m:r>
                    </m:oMath>
                  </m:oMathPara>
                </a14:m>
                <a:endParaRPr lang="en-IN" sz="2000"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360AA88F-9661-7BB8-755F-28CACE81F926}"/>
                  </a:ext>
                </a:extLst>
              </p:cNvPr>
              <p:cNvSpPr txBox="1">
                <a:spLocks noRot="1" noChangeAspect="1" noMove="1" noResize="1" noEditPoints="1" noAdjustHandles="1" noChangeArrowheads="1" noChangeShapeType="1" noTextEdit="1"/>
              </p:cNvSpPr>
              <p:nvPr/>
            </p:nvSpPr>
            <p:spPr>
              <a:xfrm>
                <a:off x="637953" y="4135156"/>
                <a:ext cx="3099391" cy="307777"/>
              </a:xfrm>
              <a:prstGeom prst="rect">
                <a:avLst/>
              </a:prstGeom>
              <a:blipFill>
                <a:blip r:embed="rId3"/>
                <a:stretch>
                  <a:fillRect b="-3529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3F4A5B1-1392-4234-622E-EF8E14F103D9}"/>
                  </a:ext>
                </a:extLst>
              </p:cNvPr>
              <p:cNvSpPr txBox="1"/>
              <p:nvPr/>
            </p:nvSpPr>
            <p:spPr>
              <a:xfrm>
                <a:off x="705293" y="4543563"/>
                <a:ext cx="3228849" cy="400110"/>
              </a:xfrm>
              <a:prstGeom prst="rect">
                <a:avLst/>
              </a:prstGeom>
              <a:noFill/>
            </p:spPr>
            <p:txBody>
              <a:bodyPr wrap="square" rtlCol="0">
                <a:spAutoFit/>
              </a:bodyPr>
              <a:lstStyle/>
              <a:p>
                <a:pPr/>
                <a14:m>
                  <m:oMathPara xmlns:m="http://schemas.openxmlformats.org/officeDocument/2006/math">
                    <m:oMath>
                      <m:sSub>
                        <m:sSubPr>
                          <m:ctrlPr>
                            <a:rPr lang="en-IN" sz="2000" b="1" i="1">
                              <a:latin typeface="Cambria Math" panose="02040503050406030204" pitchFamily="18" charset="0"/>
                            </a:rPr>
                          </m:ctrlPr>
                        </m:sSubPr>
                        <m:e>
                          <m:r>
                            <a:rPr lang="en-IN" sz="2000" b="1" i="1">
                              <a:latin typeface="Cambria Math" panose="02040503050406030204" pitchFamily="18" charset="0"/>
                            </a:rPr>
                            <m:t>𝑽</m:t>
                          </m:r>
                        </m:e>
                        <m:sub>
                          <m:r>
                            <a:rPr lang="en-IN" sz="2000" b="1" i="1">
                              <a:latin typeface="Cambria Math" panose="02040503050406030204" pitchFamily="18" charset="0"/>
                            </a:rPr>
                            <m:t>𝑶𝑼𝒕</m:t>
                          </m:r>
                        </m:sub>
                      </m:sSub>
                      <m:r>
                        <a:rPr lang="en-US" sz="2000" b="1" i="1" smtClean="0">
                          <a:latin typeface="Cambria Math" panose="02040503050406030204" pitchFamily="18" charset="0"/>
                        </a:rPr>
                        <m:t>=</m:t>
                      </m:r>
                      <m:r>
                        <m:rPr>
                          <m:nor/>
                        </m:rPr>
                        <a:rPr lang="en-IN" sz="2000" i="0">
                          <a:latin typeface="Times New Roman" panose="02020603050405020304" pitchFamily="18" charset="0"/>
                          <a:cs typeface="Times New Roman" panose="02020603050405020304" pitchFamily="18" charset="0"/>
                        </a:rPr>
                        <m:t>Output pixel value</m:t>
                      </m:r>
                    </m:oMath>
                  </m:oMathPara>
                </a14:m>
                <a:endParaRPr lang="en-IN" sz="2000"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F3F4A5B1-1392-4234-622E-EF8E14F103D9}"/>
                  </a:ext>
                </a:extLst>
              </p:cNvPr>
              <p:cNvSpPr txBox="1">
                <a:spLocks noRot="1" noChangeAspect="1" noMove="1" noResize="1" noEditPoints="1" noAdjustHandles="1" noChangeArrowheads="1" noChangeShapeType="1" noTextEdit="1"/>
              </p:cNvSpPr>
              <p:nvPr/>
            </p:nvSpPr>
            <p:spPr>
              <a:xfrm>
                <a:off x="705293" y="4543563"/>
                <a:ext cx="3228849" cy="400110"/>
              </a:xfrm>
              <a:prstGeom prst="rect">
                <a:avLst/>
              </a:prstGeom>
              <a:blipFill>
                <a:blip r:embed="rId4"/>
                <a:stretch>
                  <a:fillRect b="-151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0157D43-B814-DCD5-D81C-C8D3A9E59720}"/>
                  </a:ext>
                </a:extLst>
              </p:cNvPr>
              <p:cNvSpPr txBox="1"/>
              <p:nvPr/>
            </p:nvSpPr>
            <p:spPr>
              <a:xfrm>
                <a:off x="800052" y="4943673"/>
                <a:ext cx="2865475" cy="400110"/>
              </a:xfrm>
              <a:prstGeom prst="rect">
                <a:avLst/>
              </a:prstGeom>
              <a:noFill/>
            </p:spPr>
            <p:txBody>
              <a:bodyPr wrap="square" rtlCol="0">
                <a:spAutoFit/>
              </a:bodyPr>
              <a:lstStyle/>
              <a:p>
                <a14:m>
                  <m:oMath xmlns:m="http://schemas.openxmlformats.org/officeDocument/2006/math">
                    <m:r>
                      <a:rPr lang="en-IN" sz="2000" b="1" i="1" smtClean="0">
                        <a:latin typeface="Cambria Math" panose="02040503050406030204" pitchFamily="18" charset="0"/>
                      </a:rPr>
                      <m:t>𝑨</m:t>
                    </m:r>
                    <m:r>
                      <a:rPr lang="en-US" sz="2000" b="1" i="1" smtClean="0">
                        <a:latin typeface="Cambria Math" panose="02040503050406030204" pitchFamily="18" charset="0"/>
                      </a:rPr>
                      <m:t>=</m:t>
                    </m:r>
                    <m:r>
                      <m:rPr>
                        <m:nor/>
                      </m:rPr>
                      <a:rPr lang="en-IN" sz="2000" i="0">
                        <a:latin typeface="Times New Roman" panose="02020603050405020304" pitchFamily="18" charset="0"/>
                        <a:cs typeface="Times New Roman" panose="02020603050405020304" pitchFamily="18" charset="0"/>
                      </a:rPr>
                      <m:t>Constant value</m:t>
                    </m:r>
                  </m:oMath>
                </a14:m>
                <a:r>
                  <a:rPr lang="en-IN" sz="2000" dirty="0">
                    <a:latin typeface="Times New Roman" panose="02020603050405020304" pitchFamily="18" charset="0"/>
                    <a:cs typeface="Times New Roman" panose="02020603050405020304" pitchFamily="18" charset="0"/>
                  </a:rPr>
                  <a:t>.</a:t>
                </a:r>
              </a:p>
            </p:txBody>
          </p:sp>
        </mc:Choice>
        <mc:Fallback xmlns="">
          <p:sp>
            <p:nvSpPr>
              <p:cNvPr id="13" name="TextBox 12">
                <a:extLst>
                  <a:ext uri="{FF2B5EF4-FFF2-40B4-BE49-F238E27FC236}">
                    <a16:creationId xmlns:a16="http://schemas.microsoft.com/office/drawing/2014/main" id="{00157D43-B814-DCD5-D81C-C8D3A9E59720}"/>
                  </a:ext>
                </a:extLst>
              </p:cNvPr>
              <p:cNvSpPr txBox="1">
                <a:spLocks noRot="1" noChangeAspect="1" noMove="1" noResize="1" noEditPoints="1" noAdjustHandles="1" noChangeArrowheads="1" noChangeShapeType="1" noTextEdit="1"/>
              </p:cNvSpPr>
              <p:nvPr/>
            </p:nvSpPr>
            <p:spPr>
              <a:xfrm>
                <a:off x="800052" y="4943673"/>
                <a:ext cx="2865475" cy="400110"/>
              </a:xfrm>
              <a:prstGeom prst="rect">
                <a:avLst/>
              </a:prstGeom>
              <a:blipFill>
                <a:blip r:embed="rId5"/>
                <a:stretch>
                  <a:fillRect t="-9091" b="-257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3CC0740-956F-C0D3-8BF3-A225C2C40F4C}"/>
                  </a:ext>
                </a:extLst>
              </p:cNvPr>
              <p:cNvSpPr txBox="1"/>
              <p:nvPr/>
            </p:nvSpPr>
            <p:spPr>
              <a:xfrm>
                <a:off x="800052" y="5343783"/>
                <a:ext cx="4272260" cy="307777"/>
              </a:xfrm>
              <a:prstGeom prst="rect">
                <a:avLst/>
              </a:prstGeom>
              <a:noFill/>
            </p:spPr>
            <p:txBody>
              <a:bodyPr wrap="none" lIns="0" tIns="0" rIns="0" bIns="0" rtlCol="0">
                <a:spAutoFit/>
              </a:bodyPr>
              <a:lstStyle/>
              <a:p>
                <a:pPr/>
                <a14:m>
                  <m:oMathPara xmlns:m="http://schemas.openxmlformats.org/officeDocument/2006/math">
                    <m:oMath>
                      <m:r>
                        <a:rPr lang="en-IN" sz="200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m:t>
                      </m:r>
                      <m:r>
                        <m:rPr>
                          <m:nor/>
                        </m:rPr>
                        <a:rPr lang="en-IN" sz="2000" i="0">
                          <a:latin typeface="Times New Roman" panose="02020603050405020304" pitchFamily="18" charset="0"/>
                          <a:cs typeface="Times New Roman" panose="02020603050405020304" pitchFamily="18" charset="0"/>
                        </a:rPr>
                        <m:t>Gamma value controlling brightness</m:t>
                      </m:r>
                    </m:oMath>
                  </m:oMathPara>
                </a14:m>
                <a:endParaRPr lang="en-IN" sz="2000"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73CC0740-956F-C0D3-8BF3-A225C2C40F4C}"/>
                  </a:ext>
                </a:extLst>
              </p:cNvPr>
              <p:cNvSpPr txBox="1">
                <a:spLocks noRot="1" noChangeAspect="1" noMove="1" noResize="1" noEditPoints="1" noAdjustHandles="1" noChangeArrowheads="1" noChangeShapeType="1" noTextEdit="1"/>
              </p:cNvSpPr>
              <p:nvPr/>
            </p:nvSpPr>
            <p:spPr>
              <a:xfrm>
                <a:off x="800052" y="5343783"/>
                <a:ext cx="4272260" cy="307777"/>
              </a:xfrm>
              <a:prstGeom prst="rect">
                <a:avLst/>
              </a:prstGeom>
              <a:blipFill>
                <a:blip r:embed="rId6"/>
                <a:stretch>
                  <a:fillRect l="-713" r="-1569" b="-36000"/>
                </a:stretch>
              </a:blipFill>
            </p:spPr>
            <p:txBody>
              <a:bodyPr/>
              <a:lstStyle/>
              <a:p>
                <a:r>
                  <a:rPr lang="en-IN">
                    <a:noFill/>
                  </a:rPr>
                  <a:t> </a:t>
                </a:r>
              </a:p>
            </p:txBody>
          </p:sp>
        </mc:Fallback>
      </mc:AlternateContent>
      <p:pic>
        <p:nvPicPr>
          <p:cNvPr id="15" name="Image 8">
            <a:extLst>
              <a:ext uri="{FF2B5EF4-FFF2-40B4-BE49-F238E27FC236}">
                <a16:creationId xmlns:a16="http://schemas.microsoft.com/office/drawing/2014/main" id="{92000621-F9BC-754B-2776-3DDA78EF2F6D}"/>
              </a:ext>
            </a:extLst>
          </p:cNvPr>
          <p:cNvPicPr>
            <a:picLocks/>
          </p:cNvPicPr>
          <p:nvPr/>
        </p:nvPicPr>
        <p:blipFill>
          <a:blip r:embed="rId7" cstate="print"/>
          <a:stretch>
            <a:fillRect/>
          </a:stretch>
        </p:blipFill>
        <p:spPr>
          <a:xfrm>
            <a:off x="5461639" y="2115878"/>
            <a:ext cx="6473278" cy="4019107"/>
          </a:xfrm>
          <a:prstGeom prst="rect">
            <a:avLst/>
          </a:prstGeom>
        </p:spPr>
      </p:pic>
      <p:sp>
        <p:nvSpPr>
          <p:cNvPr id="16" name="TextBox 15">
            <a:extLst>
              <a:ext uri="{FF2B5EF4-FFF2-40B4-BE49-F238E27FC236}">
                <a16:creationId xmlns:a16="http://schemas.microsoft.com/office/drawing/2014/main" id="{77D7C6AF-F382-F451-125B-50AC8A2D4ED8}"/>
              </a:ext>
            </a:extLst>
          </p:cNvPr>
          <p:cNvSpPr txBox="1"/>
          <p:nvPr/>
        </p:nvSpPr>
        <p:spPr>
          <a:xfrm>
            <a:off x="5932967" y="6031448"/>
            <a:ext cx="5284381" cy="923330"/>
          </a:xfrm>
          <a:prstGeom prst="rect">
            <a:avLst/>
          </a:prstGeom>
          <a:noFill/>
        </p:spPr>
        <p:txBody>
          <a:bodyPr wrap="square" rtlCol="0">
            <a:spAutoFit/>
          </a:bodyPr>
          <a:lstStyle/>
          <a:p>
            <a:pPr algn="ctr"/>
            <a:r>
              <a:rPr lang="en-US" sz="2000" b="1" dirty="0">
                <a:solidFill>
                  <a:schemeClr val="bg2">
                    <a:lumMod val="90000"/>
                    <a:lumOff val="10000"/>
                  </a:schemeClr>
                </a:solidFill>
                <a:latin typeface="Times New Roman" panose="02020603050405020304" pitchFamily="18" charset="0"/>
                <a:cs typeface="Times New Roman" panose="02020603050405020304" pitchFamily="18" charset="0"/>
              </a:rPr>
              <a:t>showing gamma correction curve and contrast enhancement technique.</a:t>
            </a:r>
            <a:endParaRPr lang="en-IN" sz="2000" b="1" dirty="0">
              <a:solidFill>
                <a:schemeClr val="bg2">
                  <a:lumMod val="90000"/>
                  <a:lumOff val="10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01072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28A8-DB21-1597-077B-86FC62811CCF}"/>
              </a:ext>
            </a:extLst>
          </p:cNvPr>
          <p:cNvSpPr>
            <a:spLocks noGrp="1"/>
          </p:cNvSpPr>
          <p:nvPr>
            <p:ph type="title"/>
          </p:nvPr>
        </p:nvSpPr>
        <p:spPr>
          <a:xfrm>
            <a:off x="329609" y="932659"/>
            <a:ext cx="11422785" cy="1002467"/>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Implementation</a:t>
            </a:r>
          </a:p>
        </p:txBody>
      </p:sp>
      <p:sp>
        <p:nvSpPr>
          <p:cNvPr id="3" name="Text Placeholder 2">
            <a:extLst>
              <a:ext uri="{FF2B5EF4-FFF2-40B4-BE49-F238E27FC236}">
                <a16:creationId xmlns:a16="http://schemas.microsoft.com/office/drawing/2014/main" id="{4CF872E1-8D5C-C500-CFE0-05BA4C7B3803}"/>
              </a:ext>
            </a:extLst>
          </p:cNvPr>
          <p:cNvSpPr>
            <a:spLocks noGrp="1"/>
          </p:cNvSpPr>
          <p:nvPr>
            <p:ph type="body" idx="1"/>
          </p:nvPr>
        </p:nvSpPr>
        <p:spPr>
          <a:xfrm>
            <a:off x="329609" y="1850065"/>
            <a:ext cx="5996763" cy="4506285"/>
          </a:xfrm>
        </p:spPr>
        <p:txBody>
          <a:bodyPr>
            <a:normAutofit fontScale="85000" lnSpcReduction="20000"/>
          </a:bodyPr>
          <a:lstStyle/>
          <a:p>
            <a:pPr marL="114300" indent="0">
              <a:buNone/>
            </a:pPr>
            <a:r>
              <a:rPr lang="en-US" b="1" dirty="0">
                <a:solidFill>
                  <a:schemeClr val="accent2">
                    <a:lumMod val="50000"/>
                  </a:schemeClr>
                </a:solidFill>
                <a:latin typeface="Times New Roman" panose="02020603050405020304" pitchFamily="18" charset="0"/>
                <a:cs typeface="Times New Roman" panose="02020603050405020304" pitchFamily="18" charset="0"/>
              </a:rPr>
              <a:t>Steps Used in the Proposed System</a:t>
            </a:r>
          </a:p>
          <a:p>
            <a:pPr marL="114300" indent="0">
              <a:buNone/>
            </a:pPr>
            <a:r>
              <a:rPr lang="en-IN" dirty="0">
                <a:latin typeface="Times New Roman" panose="02020603050405020304" pitchFamily="18" charset="0"/>
                <a:cs typeface="Times New Roman" panose="02020603050405020304" pitchFamily="18" charset="0"/>
              </a:rPr>
              <a:t>1. Input low contrast or underwater image </a:t>
            </a:r>
          </a:p>
          <a:p>
            <a:pPr marL="114300" indent="0">
              <a:buNone/>
            </a:pPr>
            <a:r>
              <a:rPr lang="en-IN" dirty="0">
                <a:latin typeface="Times New Roman" panose="02020603050405020304" pitchFamily="18" charset="0"/>
                <a:cs typeface="Times New Roman" panose="02020603050405020304" pitchFamily="18" charset="0"/>
              </a:rPr>
              <a:t>2.Apply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correction techniques </a:t>
            </a:r>
          </a:p>
          <a:p>
            <a:pPr lvl="1"/>
            <a:r>
              <a:rPr lang="en-IN" dirty="0">
                <a:latin typeface="Times New Roman" panose="02020603050405020304" pitchFamily="18" charset="0"/>
                <a:cs typeface="Times New Roman" panose="02020603050405020304" pitchFamily="18" charset="0"/>
              </a:rPr>
              <a:t>White balance </a:t>
            </a:r>
          </a:p>
          <a:p>
            <a:pPr lvl="1"/>
            <a:r>
              <a:rPr lang="en-IN" dirty="0" err="1">
                <a:latin typeface="Times New Roman" panose="02020603050405020304" pitchFamily="18" charset="0"/>
                <a:cs typeface="Times New Roman" panose="02020603050405020304" pitchFamily="18" charset="0"/>
              </a:rPr>
              <a:t>Retinex</a:t>
            </a:r>
            <a:r>
              <a:rPr lang="en-IN" dirty="0">
                <a:latin typeface="Times New Roman" panose="02020603050405020304" pitchFamily="18" charset="0"/>
                <a:cs typeface="Times New Roman" panose="02020603050405020304" pitchFamily="18" charset="0"/>
              </a:rPr>
              <a:t> enhancement </a:t>
            </a:r>
          </a:p>
          <a:p>
            <a:pPr marL="114300" indent="0">
              <a:buNone/>
            </a:pPr>
            <a:r>
              <a:rPr lang="en-IN" dirty="0">
                <a:latin typeface="Times New Roman" panose="02020603050405020304" pitchFamily="18" charset="0"/>
                <a:cs typeface="Times New Roman" panose="02020603050405020304" pitchFamily="18" charset="0"/>
              </a:rPr>
              <a:t>3. Perform detail sharpening </a:t>
            </a:r>
          </a:p>
          <a:p>
            <a:pPr lvl="1"/>
            <a:r>
              <a:rPr lang="en-IN" dirty="0">
                <a:latin typeface="Times New Roman" panose="02020603050405020304" pitchFamily="18" charset="0"/>
                <a:cs typeface="Times New Roman" panose="02020603050405020304" pitchFamily="18" charset="0"/>
              </a:rPr>
              <a:t>Unsharp masking </a:t>
            </a:r>
          </a:p>
          <a:p>
            <a:pPr lvl="1"/>
            <a:r>
              <a:rPr lang="en-IN" dirty="0">
                <a:latin typeface="Times New Roman" panose="02020603050405020304" pitchFamily="18" charset="0"/>
                <a:cs typeface="Times New Roman" panose="02020603050405020304" pitchFamily="18" charset="0"/>
              </a:rPr>
              <a:t>Laplacian filtering </a:t>
            </a:r>
          </a:p>
          <a:p>
            <a:pPr marL="114300" indent="0">
              <a:buNone/>
            </a:pPr>
            <a:r>
              <a:rPr lang="en-IN" dirty="0">
                <a:latin typeface="Times New Roman" panose="02020603050405020304" pitchFamily="18" charset="0"/>
                <a:cs typeface="Times New Roman" panose="02020603050405020304" pitchFamily="18" charset="0"/>
              </a:rPr>
              <a:t>4. Apply contrast enhancement </a:t>
            </a:r>
          </a:p>
          <a:p>
            <a:pPr lvl="1"/>
            <a:r>
              <a:rPr lang="en-IN" dirty="0">
                <a:latin typeface="Times New Roman" panose="02020603050405020304" pitchFamily="18" charset="0"/>
                <a:cs typeface="Times New Roman" panose="02020603050405020304" pitchFamily="18" charset="0"/>
              </a:rPr>
              <a:t>Histogram Equalization </a:t>
            </a:r>
          </a:p>
          <a:p>
            <a:pPr lvl="1"/>
            <a:r>
              <a:rPr lang="en-IN" dirty="0">
                <a:latin typeface="Times New Roman" panose="02020603050405020304" pitchFamily="18" charset="0"/>
                <a:cs typeface="Times New Roman" panose="02020603050405020304" pitchFamily="18" charset="0"/>
              </a:rPr>
              <a:t>CLAHE </a:t>
            </a:r>
          </a:p>
          <a:p>
            <a:pPr lvl="1"/>
            <a:r>
              <a:rPr lang="en-IN" dirty="0">
                <a:latin typeface="Times New Roman" panose="02020603050405020304" pitchFamily="18" charset="0"/>
                <a:cs typeface="Times New Roman" panose="02020603050405020304" pitchFamily="18" charset="0"/>
              </a:rPr>
              <a:t>Gamma Correction </a:t>
            </a:r>
          </a:p>
          <a:p>
            <a:pPr marL="114300" indent="0">
              <a:buNone/>
            </a:pPr>
            <a:r>
              <a:rPr lang="en-IN" dirty="0">
                <a:latin typeface="Times New Roman" panose="02020603050405020304" pitchFamily="18" charset="0"/>
                <a:cs typeface="Times New Roman" panose="02020603050405020304" pitchFamily="18" charset="0"/>
              </a:rPr>
              <a:t>4. Generate enhanced output image </a:t>
            </a:r>
          </a:p>
          <a:p>
            <a:pPr marL="114300" indent="0">
              <a:buNone/>
            </a:pPr>
            <a:endParaRPr lang="en-IN" dirty="0"/>
          </a:p>
        </p:txBody>
      </p:sp>
      <p:sp>
        <p:nvSpPr>
          <p:cNvPr id="4" name="Rectangle 3">
            <a:extLst>
              <a:ext uri="{FF2B5EF4-FFF2-40B4-BE49-F238E27FC236}">
                <a16:creationId xmlns:a16="http://schemas.microsoft.com/office/drawing/2014/main" id="{C129D070-B54B-A49E-E390-8F7A963072F8}"/>
              </a:ext>
            </a:extLst>
          </p:cNvPr>
          <p:cNvSpPr/>
          <p:nvPr/>
        </p:nvSpPr>
        <p:spPr>
          <a:xfrm>
            <a:off x="6095999" y="1648047"/>
            <a:ext cx="5546651" cy="4051004"/>
          </a:xfrm>
          <a:prstGeom prst="rect">
            <a:avLst/>
          </a:prstGeom>
          <a:solidFill>
            <a:schemeClr val="bg2">
              <a:lumMod val="10000"/>
              <a:lumOff val="90000"/>
            </a:schemeClr>
          </a:solidFill>
          <a:ln/>
        </p:spPr>
        <p:style>
          <a:lnRef idx="1">
            <a:schemeClr val="accent2"/>
          </a:lnRef>
          <a:fillRef idx="2">
            <a:schemeClr val="accent2"/>
          </a:fillRef>
          <a:effectRef idx="1">
            <a:schemeClr val="accent2"/>
          </a:effectRef>
          <a:fontRef idx="minor">
            <a:schemeClr val="dk1"/>
          </a:fontRef>
        </p:style>
        <p:txBody>
          <a:bodyPr rtlCol="0" anchor="ctr"/>
          <a:lstStyle/>
          <a:p>
            <a:r>
              <a:rPr lang="en-US" sz="2400" dirty="0">
                <a:ln w="0">
                  <a:solidFill>
                    <a:sysClr val="windowText" lastClr="000000"/>
                  </a:solidFill>
                </a:ln>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&lt;&gt; Tools and Technologies</a:t>
            </a:r>
          </a:p>
          <a:p>
            <a:endParaRPr lang="en-US" sz="2400" b="1" dirty="0">
              <a:solidFill>
                <a:schemeClr val="accent1">
                  <a:lumMod val="50000"/>
                </a:schemeClr>
              </a:solidFill>
              <a:latin typeface="Times New Roman" panose="02020603050405020304" pitchFamily="18" charset="0"/>
              <a:cs typeface="Times New Roman" panose="02020603050405020304" pitchFamily="18" charset="0"/>
            </a:endParaRP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Digital Image Processing </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MATLAB / Python-based processing </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Classical enhancement algorithms</a:t>
            </a:r>
          </a:p>
        </p:txBody>
      </p:sp>
    </p:spTree>
    <p:extLst>
      <p:ext uri="{BB962C8B-B14F-4D97-AF65-F5344CB8AC3E}">
        <p14:creationId xmlns:p14="http://schemas.microsoft.com/office/powerpoint/2010/main" val="3926171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B18D5-D129-E87D-5742-AB0072A564A9}"/>
              </a:ext>
            </a:extLst>
          </p:cNvPr>
          <p:cNvSpPr>
            <a:spLocks noGrp="1"/>
          </p:cNvSpPr>
          <p:nvPr>
            <p:ph type="title"/>
          </p:nvPr>
        </p:nvSpPr>
        <p:spPr>
          <a:xfrm>
            <a:off x="382773" y="932659"/>
            <a:ext cx="11369622" cy="1087527"/>
          </a:xfrm>
        </p:spPr>
        <p:txBody>
          <a:bodyPr>
            <a:normAutofit fontScale="90000"/>
          </a:bodyPr>
          <a:lstStyle/>
          <a:p>
            <a:r>
              <a:rPr lang="en-US" b="1" dirty="0">
                <a:solidFill>
                  <a:schemeClr val="tx1">
                    <a:lumMod val="95000"/>
                    <a:lumOff val="5000"/>
                  </a:schemeClr>
                </a:solidFill>
                <a:latin typeface="Times New Roman" panose="02020603050405020304" pitchFamily="18" charset="0"/>
                <a:ea typeface="Montserrat Bold" pitchFamily="34" charset="-122"/>
                <a:cs typeface="Times New Roman" panose="02020603050405020304" pitchFamily="18" charset="0"/>
              </a:rPr>
              <a:t>Results &amp; Performance Analysis</a:t>
            </a:r>
            <a:br>
              <a:rPr lang="en-US"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2EB948C-A890-EC7D-17D3-A6F055D9AED1}"/>
              </a:ext>
            </a:extLst>
          </p:cNvPr>
          <p:cNvSpPr>
            <a:spLocks noGrp="1"/>
          </p:cNvSpPr>
          <p:nvPr>
            <p:ph type="body" idx="1"/>
          </p:nvPr>
        </p:nvSpPr>
        <p:spPr>
          <a:xfrm>
            <a:off x="439605" y="1467294"/>
            <a:ext cx="11311015" cy="1278914"/>
          </a:xfrm>
        </p:spPr>
        <p:txBody>
          <a:bodyPr/>
          <a:lstStyle/>
          <a:p>
            <a:pPr marL="114300" indent="0">
              <a:buNone/>
            </a:pPr>
            <a:r>
              <a:rPr lang="en-US" sz="2000" dirty="0">
                <a:solidFill>
                  <a:schemeClr val="tx1">
                    <a:lumMod val="95000"/>
                    <a:lumOff val="5000"/>
                  </a:schemeClr>
                </a:solidFill>
                <a:latin typeface="Times New Roman" panose="02020603050405020304" pitchFamily="18" charset="0"/>
                <a:ea typeface="Source Sans 3" pitchFamily="34" charset="-122"/>
                <a:cs typeface="Times New Roman" panose="02020603050405020304" pitchFamily="18" charset="0"/>
              </a:rPr>
              <a:t>The enhancement techniques were tested on several low contrast underwater images obtained from public datasets. CLAHE produced the best visual quality with effective local contrast improvement while preserving edges and reducing noise amplification.</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pic>
        <p:nvPicPr>
          <p:cNvPr id="4" name="Picture 3" descr="Photoshop Underwater Color Correction - Lenscraft">
            <a:extLst>
              <a:ext uri="{FF2B5EF4-FFF2-40B4-BE49-F238E27FC236}">
                <a16:creationId xmlns:a16="http://schemas.microsoft.com/office/drawing/2014/main" id="{E9AFE48B-FF69-53F5-9F14-BAE921714E4B}"/>
              </a:ext>
            </a:extLst>
          </p:cNvPr>
          <p:cNvPicPr>
            <a:picLocks noChangeAspect="1"/>
          </p:cNvPicPr>
          <p:nvPr/>
        </p:nvPicPr>
        <p:blipFill>
          <a:blip r:embed="rId2"/>
          <a:stretch>
            <a:fillRect/>
          </a:stretch>
        </p:blipFill>
        <p:spPr>
          <a:xfrm>
            <a:off x="609822" y="2636226"/>
            <a:ext cx="3366756" cy="2754479"/>
          </a:xfrm>
          <a:prstGeom prst="rect">
            <a:avLst/>
          </a:prstGeom>
        </p:spPr>
      </p:pic>
      <p:pic>
        <p:nvPicPr>
          <p:cNvPr id="5" name="Image 1">
            <a:extLst>
              <a:ext uri="{FF2B5EF4-FFF2-40B4-BE49-F238E27FC236}">
                <a16:creationId xmlns:a16="http://schemas.microsoft.com/office/drawing/2014/main" id="{1E081E0A-C931-3FB0-36EF-810C8A0E5BD0}"/>
              </a:ext>
            </a:extLst>
          </p:cNvPr>
          <p:cNvPicPr>
            <a:picLocks/>
          </p:cNvPicPr>
          <p:nvPr/>
        </p:nvPicPr>
        <p:blipFill>
          <a:blip r:embed="rId3" cstate="print"/>
          <a:stretch>
            <a:fillRect/>
          </a:stretch>
        </p:blipFill>
        <p:spPr>
          <a:xfrm>
            <a:off x="4455042" y="2648037"/>
            <a:ext cx="3604437" cy="2754479"/>
          </a:xfrm>
          <a:prstGeom prst="rect">
            <a:avLst/>
          </a:prstGeom>
        </p:spPr>
      </p:pic>
      <p:pic>
        <p:nvPicPr>
          <p:cNvPr id="6" name="Image 3">
            <a:extLst>
              <a:ext uri="{FF2B5EF4-FFF2-40B4-BE49-F238E27FC236}">
                <a16:creationId xmlns:a16="http://schemas.microsoft.com/office/drawing/2014/main" id="{86A80AB4-0E25-40E3-3AF7-285C1EBF806F}"/>
              </a:ext>
            </a:extLst>
          </p:cNvPr>
          <p:cNvPicPr>
            <a:picLocks/>
          </p:cNvPicPr>
          <p:nvPr/>
        </p:nvPicPr>
        <p:blipFill>
          <a:blip r:embed="rId4" cstate="print"/>
          <a:stretch>
            <a:fillRect/>
          </a:stretch>
        </p:blipFill>
        <p:spPr>
          <a:xfrm>
            <a:off x="8549401" y="2554821"/>
            <a:ext cx="3201219" cy="2835883"/>
          </a:xfrm>
          <a:prstGeom prst="rect">
            <a:avLst/>
          </a:prstGeom>
        </p:spPr>
      </p:pic>
      <p:sp>
        <p:nvSpPr>
          <p:cNvPr id="7" name="TextBox 6">
            <a:extLst>
              <a:ext uri="{FF2B5EF4-FFF2-40B4-BE49-F238E27FC236}">
                <a16:creationId xmlns:a16="http://schemas.microsoft.com/office/drawing/2014/main" id="{7BBBFB8B-E549-3002-8E45-89E9FFA7AC55}"/>
              </a:ext>
            </a:extLst>
          </p:cNvPr>
          <p:cNvSpPr txBox="1"/>
          <p:nvPr/>
        </p:nvSpPr>
        <p:spPr>
          <a:xfrm>
            <a:off x="558209" y="5503783"/>
            <a:ext cx="3896833" cy="1354217"/>
          </a:xfrm>
          <a:prstGeom prst="rect">
            <a:avLst/>
          </a:prstGeom>
          <a:noFill/>
        </p:spPr>
        <p:txBody>
          <a:bodyPr wrap="square" rtlCol="0">
            <a:spAutoFit/>
          </a:bodyPr>
          <a:lstStyle/>
          <a:p>
            <a:r>
              <a:rPr lang="en-US" sz="2400" b="1" dirty="0">
                <a:solidFill>
                  <a:schemeClr val="bg2">
                    <a:lumMod val="90000"/>
                    <a:lumOff val="10000"/>
                  </a:schemeClr>
                </a:solidFill>
                <a:latin typeface="Franklin Gothic Demi" panose="020B0703020102020204" pitchFamily="34" charset="0"/>
                <a:ea typeface="Montserrat Bold" pitchFamily="34" charset="-122"/>
                <a:cs typeface="Montserrat Bold" pitchFamily="34" charset="-120"/>
              </a:rPr>
              <a:t>Before HE</a:t>
            </a:r>
          </a:p>
          <a:p>
            <a:r>
              <a:rPr lang="en-US" sz="2000" dirty="0">
                <a:solidFill>
                  <a:schemeClr val="tx1">
                    <a:lumMod val="95000"/>
                    <a:lumOff val="5000"/>
                  </a:schemeClr>
                </a:solidFill>
                <a:latin typeface="Times New Roman" panose="02020603050405020304" pitchFamily="18" charset="0"/>
                <a:ea typeface="Source Sans 3" pitchFamily="34" charset="-122"/>
                <a:cs typeface="Times New Roman" panose="02020603050405020304" pitchFamily="18" charset="0"/>
              </a:rPr>
              <a:t>Original low contrast image</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2400" dirty="0">
              <a:solidFill>
                <a:schemeClr val="tx1">
                  <a:lumMod val="95000"/>
                  <a:lumOff val="5000"/>
                </a:schemeClr>
              </a:solidFill>
              <a:latin typeface="Franklin Gothic Demi" panose="020B0703020102020204" pitchFamily="34" charset="0"/>
            </a:endParaRPr>
          </a:p>
          <a:p>
            <a:endParaRPr lang="en-IN" dirty="0"/>
          </a:p>
        </p:txBody>
      </p:sp>
      <p:sp>
        <p:nvSpPr>
          <p:cNvPr id="9" name="TextBox 8">
            <a:extLst>
              <a:ext uri="{FF2B5EF4-FFF2-40B4-BE49-F238E27FC236}">
                <a16:creationId xmlns:a16="http://schemas.microsoft.com/office/drawing/2014/main" id="{6D0DA1C8-6031-6E3B-35EC-E582D167A5AA}"/>
              </a:ext>
            </a:extLst>
          </p:cNvPr>
          <p:cNvSpPr txBox="1"/>
          <p:nvPr/>
        </p:nvSpPr>
        <p:spPr>
          <a:xfrm>
            <a:off x="4455041" y="5434678"/>
            <a:ext cx="3604437" cy="1508105"/>
          </a:xfrm>
          <a:prstGeom prst="rect">
            <a:avLst/>
          </a:prstGeom>
          <a:noFill/>
        </p:spPr>
        <p:txBody>
          <a:bodyPr wrap="square" rtlCol="0">
            <a:spAutoFit/>
          </a:bodyPr>
          <a:lstStyle/>
          <a:p>
            <a:r>
              <a:rPr lang="en-US" sz="2400" b="1" dirty="0">
                <a:solidFill>
                  <a:schemeClr val="bg2">
                    <a:lumMod val="90000"/>
                    <a:lumOff val="10000"/>
                  </a:schemeClr>
                </a:solidFill>
                <a:latin typeface="Franklin Gothic Demi" panose="020B0703020102020204" pitchFamily="34" charset="0"/>
                <a:ea typeface="Montserrat Bold" pitchFamily="34" charset="-122"/>
                <a:cs typeface="Montserrat Bold" pitchFamily="34" charset="-120"/>
              </a:rPr>
              <a:t>After HE</a:t>
            </a:r>
          </a:p>
          <a:p>
            <a:r>
              <a:rPr lang="en-US" sz="2000" dirty="0">
                <a:solidFill>
                  <a:schemeClr val="tx1">
                    <a:lumMod val="95000"/>
                    <a:lumOff val="5000"/>
                  </a:schemeClr>
                </a:solidFill>
                <a:latin typeface="Times New Roman" panose="02020603050405020304" pitchFamily="18" charset="0"/>
                <a:ea typeface="Source Sans 3" pitchFamily="34" charset="-122"/>
                <a:cs typeface="Times New Roman" panose="02020603050405020304" pitchFamily="18" charset="0"/>
              </a:rPr>
              <a:t>Improved overall contrast with possible over-enhancement</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dirty="0">
              <a:solidFill>
                <a:schemeClr val="tx1">
                  <a:lumMod val="95000"/>
                  <a:lumOff val="5000"/>
                </a:schemeClr>
              </a:solidFill>
            </a:endParaRPr>
          </a:p>
          <a:p>
            <a:endParaRPr lang="en-IN" dirty="0"/>
          </a:p>
        </p:txBody>
      </p:sp>
      <p:sp>
        <p:nvSpPr>
          <p:cNvPr id="11" name="TextBox 10">
            <a:extLst>
              <a:ext uri="{FF2B5EF4-FFF2-40B4-BE49-F238E27FC236}">
                <a16:creationId xmlns:a16="http://schemas.microsoft.com/office/drawing/2014/main" id="{A2355BA6-A724-59F6-1292-C5FDDA9672FE}"/>
              </a:ext>
            </a:extLst>
          </p:cNvPr>
          <p:cNvSpPr txBox="1"/>
          <p:nvPr/>
        </p:nvSpPr>
        <p:spPr>
          <a:xfrm>
            <a:off x="8634463" y="5434678"/>
            <a:ext cx="3376780" cy="1292662"/>
          </a:xfrm>
          <a:prstGeom prst="rect">
            <a:avLst/>
          </a:prstGeom>
          <a:noFill/>
        </p:spPr>
        <p:txBody>
          <a:bodyPr wrap="square" rtlCol="0">
            <a:spAutoFit/>
          </a:bodyPr>
          <a:lstStyle/>
          <a:p>
            <a:r>
              <a:rPr lang="en-US" sz="2400" b="1" dirty="0">
                <a:solidFill>
                  <a:schemeClr val="bg2">
                    <a:lumMod val="90000"/>
                    <a:lumOff val="10000"/>
                  </a:schemeClr>
                </a:solidFill>
                <a:latin typeface="Franklin Gothic Demi" panose="020B0703020102020204" pitchFamily="34" charset="0"/>
                <a:ea typeface="Montserrat Bold" pitchFamily="34" charset="-122"/>
                <a:cs typeface="Montserrat Bold" pitchFamily="34" charset="-120"/>
              </a:rPr>
              <a:t>After CLAHE</a:t>
            </a:r>
            <a:endParaRPr lang="en-US" sz="2400" dirty="0">
              <a:solidFill>
                <a:schemeClr val="bg2">
                  <a:lumMod val="90000"/>
                  <a:lumOff val="10000"/>
                </a:schemeClr>
              </a:solidFill>
              <a:latin typeface="Franklin Gothic Demi" panose="020B0703020102020204" pitchFamily="34" charset="0"/>
            </a:endParaRPr>
          </a:p>
          <a:p>
            <a:r>
              <a:rPr lang="en-US" sz="2000" dirty="0">
                <a:solidFill>
                  <a:schemeClr val="tx1">
                    <a:lumMod val="95000"/>
                    <a:lumOff val="5000"/>
                  </a:schemeClr>
                </a:solidFill>
                <a:latin typeface="Times New Roman" panose="02020603050405020304" pitchFamily="18" charset="0"/>
                <a:ea typeface="Source Sans 3" pitchFamily="34" charset="-122"/>
                <a:cs typeface="Times New Roman" panose="02020603050405020304" pitchFamily="18" charset="0"/>
              </a:rPr>
              <a:t>Best visual quality with local contrast enhancement</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59773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14D6-D047-05DD-7F9F-A2B05C16EB93}"/>
              </a:ext>
            </a:extLst>
          </p:cNvPr>
          <p:cNvSpPr>
            <a:spLocks noGrp="1"/>
          </p:cNvSpPr>
          <p:nvPr>
            <p:ph type="title"/>
          </p:nvPr>
        </p:nvSpPr>
        <p:spPr>
          <a:xfrm>
            <a:off x="838199" y="932660"/>
            <a:ext cx="10914195" cy="1066262"/>
          </a:xfrm>
        </p:spPr>
        <p:txBody>
          <a:bodyPr>
            <a:normAutofit/>
          </a:bodyPr>
          <a:lstStyle/>
          <a:p>
            <a:pPr algn="ctr"/>
            <a:r>
              <a:rPr lang="en-US" sz="32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Montserrat Bold" pitchFamily="34" charset="-122"/>
                <a:cs typeface="Times New Roman" panose="02020603050405020304" pitchFamily="18" charset="0"/>
              </a:rPr>
              <a:t>Performance Evaluation Metrics</a:t>
            </a:r>
            <a:br>
              <a:rPr lang="en-US" sz="32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endParaRPr lang="en-IN" sz="32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3D1E6AD-6D2D-C0AB-A256-1ECB22E6F9F4}"/>
              </a:ext>
            </a:extLst>
          </p:cNvPr>
          <p:cNvSpPr>
            <a:spLocks noGrp="1"/>
          </p:cNvSpPr>
          <p:nvPr>
            <p:ph type="body" idx="1"/>
          </p:nvPr>
        </p:nvSpPr>
        <p:spPr>
          <a:xfrm>
            <a:off x="-372140" y="1998922"/>
            <a:ext cx="4572001" cy="2232775"/>
          </a:xfrm>
        </p:spPr>
        <p:txBody>
          <a:bodyPr>
            <a:normAutofit/>
          </a:bodyPr>
          <a:lstStyle/>
          <a:p>
            <a:pPr marL="114300" indent="0" algn="ctr">
              <a:buNone/>
            </a:pPr>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Rockwell Extra Bold" panose="02060903040505020403" pitchFamily="18" charset="0"/>
                <a:ea typeface="Montserrat Bold" pitchFamily="34" charset="-122"/>
                <a:cs typeface="Montserrat Bold" pitchFamily="34" charset="-120"/>
              </a:rPr>
              <a:t>PSNR</a:t>
            </a:r>
          </a:p>
          <a:p>
            <a:pPr marL="114300" indent="0" algn="ctr">
              <a:buNone/>
            </a:pPr>
            <a:r>
              <a:rPr lang="en-US" sz="2600" b="1" dirty="0">
                <a:solidFill>
                  <a:schemeClr val="tx1"/>
                </a:solidFill>
                <a:latin typeface="Dubai Medium" panose="020B0603030403030204" pitchFamily="34" charset="-78"/>
                <a:ea typeface="Montserrat Bold" pitchFamily="34" charset="-122"/>
                <a:cs typeface="Dubai Medium" panose="020B0603030403030204" pitchFamily="34" charset="-78"/>
              </a:rPr>
              <a:t>Peak Signal-to-Noise Ratio</a:t>
            </a:r>
            <a:endParaRPr lang="en-US" sz="2600" dirty="0">
              <a:solidFill>
                <a:schemeClr val="tx1"/>
              </a:solidFill>
              <a:latin typeface="Dubai Medium" panose="020B0603030403030204" pitchFamily="34" charset="-78"/>
              <a:cs typeface="Dubai Medium" panose="020B0603030403030204" pitchFamily="34" charset="-78"/>
            </a:endParaRPr>
          </a:p>
          <a:p>
            <a:pPr marL="114300" indent="0" algn="ctr">
              <a:buNone/>
            </a:pPr>
            <a:r>
              <a:rPr lang="en-US" sz="1900" dirty="0">
                <a:solidFill>
                  <a:schemeClr val="tx1"/>
                </a:solidFill>
                <a:latin typeface="Times New Roman" panose="02020603050405020304" pitchFamily="18" charset="0"/>
                <a:ea typeface="Source Sans 3" pitchFamily="34" charset="-122"/>
                <a:cs typeface="Times New Roman" panose="02020603050405020304" pitchFamily="18" charset="0"/>
              </a:rPr>
              <a:t>Measures image reconstruction quality. Higher PSNR values indicate better enhancement performance.</a:t>
            </a:r>
            <a:endParaRPr lang="en-US" sz="19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sz="2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Rockwell Extra Bold" panose="02060903040505020403" pitchFamily="18" charset="0"/>
            </a:endParaRPr>
          </a:p>
          <a:p>
            <a:endParaRPr lang="en-IN" dirty="0"/>
          </a:p>
        </p:txBody>
      </p:sp>
      <p:sp>
        <p:nvSpPr>
          <p:cNvPr id="5" name="TextBox 4">
            <a:extLst>
              <a:ext uri="{FF2B5EF4-FFF2-40B4-BE49-F238E27FC236}">
                <a16:creationId xmlns:a16="http://schemas.microsoft.com/office/drawing/2014/main" id="{4179B953-B2B8-031F-B733-EA865A813344}"/>
              </a:ext>
            </a:extLst>
          </p:cNvPr>
          <p:cNvSpPr txBox="1"/>
          <p:nvPr/>
        </p:nvSpPr>
        <p:spPr>
          <a:xfrm>
            <a:off x="4146689" y="2259449"/>
            <a:ext cx="3845452" cy="2339102"/>
          </a:xfrm>
          <a:prstGeom prst="rect">
            <a:avLst/>
          </a:prstGeom>
          <a:noFill/>
        </p:spPr>
        <p:txBody>
          <a:bodyPr wrap="square" rtlCol="0">
            <a:spAutoFit/>
          </a:bodyPr>
          <a:lstStyle/>
          <a:p>
            <a:pPr algn="ctr"/>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Rockwell Extra Bold" panose="02060903040505020403" pitchFamily="18" charset="0"/>
                <a:ea typeface="Montserrat Bold" pitchFamily="34" charset="-122"/>
                <a:cs typeface="Montserrat Bold" pitchFamily="34" charset="-120"/>
              </a:rPr>
              <a:t>MSE</a:t>
            </a:r>
          </a:p>
          <a:p>
            <a:pPr algn="ctr"/>
            <a:r>
              <a:rPr lang="en-US" sz="2400" b="1" dirty="0">
                <a:solidFill>
                  <a:schemeClr val="tx1"/>
                </a:solidFill>
                <a:latin typeface="Dubai Medium" panose="020B0603030403030204" pitchFamily="34" charset="-78"/>
                <a:ea typeface="Montserrat Bold" pitchFamily="34" charset="-122"/>
                <a:cs typeface="Dubai Medium" panose="020B0603030403030204" pitchFamily="34" charset="-78"/>
              </a:rPr>
              <a:t>Mean Squared Error</a:t>
            </a: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Measures error between original and enhanced image. Lower MSE values indicate better performance.</a:t>
            </a:r>
            <a:endParaRPr lang="en-US" sz="18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IN" dirty="0">
              <a:solidFill>
                <a:schemeClr val="tx1"/>
              </a:solidFill>
            </a:endParaRPr>
          </a:p>
        </p:txBody>
      </p:sp>
      <p:sp>
        <p:nvSpPr>
          <p:cNvPr id="6" name="TextBox 5">
            <a:extLst>
              <a:ext uri="{FF2B5EF4-FFF2-40B4-BE49-F238E27FC236}">
                <a16:creationId xmlns:a16="http://schemas.microsoft.com/office/drawing/2014/main" id="{C89D0440-3B87-2474-7DE2-5C1F7877AA11}"/>
              </a:ext>
            </a:extLst>
          </p:cNvPr>
          <p:cNvSpPr txBox="1"/>
          <p:nvPr/>
        </p:nvSpPr>
        <p:spPr>
          <a:xfrm>
            <a:off x="8066569" y="2259449"/>
            <a:ext cx="3845452" cy="2339102"/>
          </a:xfrm>
          <a:prstGeom prst="rect">
            <a:avLst/>
          </a:prstGeom>
          <a:noFill/>
        </p:spPr>
        <p:txBody>
          <a:bodyPr wrap="square" rtlCol="0">
            <a:spAutoFit/>
          </a:bodyPr>
          <a:lstStyle/>
          <a:p>
            <a:pPr algn="ctr"/>
            <a:r>
              <a:rPr lang="en-US" sz="4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Rockwell Extra Bold" panose="02060903040505020403" pitchFamily="18" charset="0"/>
                <a:ea typeface="Montserrat Bold" pitchFamily="34" charset="-122"/>
                <a:cs typeface="Montserrat Bold" pitchFamily="34" charset="-120"/>
              </a:rPr>
              <a:t>SSIM</a:t>
            </a:r>
            <a:endParaRPr lang="en-US" sz="4000" b="1" dirty="0">
              <a:solidFill>
                <a:schemeClr val="tx1"/>
              </a:solidFill>
              <a:latin typeface="Rockwell Extra Bold" panose="02060903040505020403" pitchFamily="18" charset="0"/>
              <a:ea typeface="Montserrat Bold" pitchFamily="34" charset="-122"/>
              <a:cs typeface="Montserrat Bold" pitchFamily="34" charset="-120"/>
            </a:endParaRPr>
          </a:p>
          <a:p>
            <a:pPr algn="ctr"/>
            <a:r>
              <a:rPr lang="en-US" sz="2400" b="1" dirty="0">
                <a:solidFill>
                  <a:schemeClr val="tx1"/>
                </a:solidFill>
                <a:latin typeface="Dubai Medium" panose="020B0603030403030204" pitchFamily="34" charset="-78"/>
                <a:ea typeface="Montserrat Bold" pitchFamily="34" charset="-122"/>
                <a:cs typeface="Dubai Medium" panose="020B0603030403030204" pitchFamily="34" charset="-78"/>
              </a:rPr>
              <a:t>Structural</a:t>
            </a:r>
            <a:r>
              <a:rPr lang="en-US" sz="2400" b="1" dirty="0">
                <a:solidFill>
                  <a:schemeClr val="tx1"/>
                </a:solidFill>
                <a:latin typeface="Dubai" panose="020B0503030403030204" pitchFamily="34" charset="-78"/>
                <a:ea typeface="Montserrat Bold" pitchFamily="34" charset="-122"/>
                <a:cs typeface="Dubai" panose="020B0503030403030204" pitchFamily="34" charset="-78"/>
              </a:rPr>
              <a:t> Similarity Index</a:t>
            </a: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Measures structural similarity and visual quality. Higher SSIM values indicate better detail preservation.</a:t>
            </a:r>
            <a:endParaRPr lang="en-US" sz="1800"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endParaRPr>
          </a:p>
          <a:p>
            <a:endParaRPr lang="en-IN" dirty="0">
              <a:solidFill>
                <a:schemeClr val="tx1"/>
              </a:solidFill>
            </a:endParaRPr>
          </a:p>
        </p:txBody>
      </p:sp>
      <p:sp>
        <p:nvSpPr>
          <p:cNvPr id="9" name="TextBox 8">
            <a:extLst>
              <a:ext uri="{FF2B5EF4-FFF2-40B4-BE49-F238E27FC236}">
                <a16:creationId xmlns:a16="http://schemas.microsoft.com/office/drawing/2014/main" id="{A377FD22-7367-843C-A423-647D5F8D11B6}"/>
              </a:ext>
            </a:extLst>
          </p:cNvPr>
          <p:cNvSpPr txBox="1"/>
          <p:nvPr/>
        </p:nvSpPr>
        <p:spPr>
          <a:xfrm>
            <a:off x="403761" y="4859078"/>
            <a:ext cx="11316927" cy="1046440"/>
          </a:xfrm>
          <a:prstGeom prst="rect">
            <a:avLst/>
          </a:prstGeom>
          <a:noFill/>
        </p:spPr>
        <p:txBody>
          <a:bodyPr wrap="square" rtlCol="0">
            <a:spAutoFit/>
          </a:bodyPr>
          <a:lstStyle/>
          <a:p>
            <a:r>
              <a:rPr lang="en-US"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ea typeface="Source Sans 3" pitchFamily="34" charset="-122"/>
                <a:cs typeface="Times New Roman" panose="02020603050405020304" pitchFamily="18" charset="0"/>
              </a:rPr>
              <a:t>&lt;&gt; Key Finding: </a:t>
            </a: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CLAHE achieved the best balance between contrast enhancement, detail preservation, and visual quality among all classical methods tested.</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29346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E141D-BD84-8CAD-5A25-E23979BD0523}"/>
              </a:ext>
            </a:extLst>
          </p:cNvPr>
          <p:cNvSpPr>
            <a:spLocks noGrp="1"/>
          </p:cNvSpPr>
          <p:nvPr>
            <p:ph type="title"/>
          </p:nvPr>
        </p:nvSpPr>
        <p:spPr>
          <a:xfrm>
            <a:off x="838199" y="932660"/>
            <a:ext cx="10914195" cy="1026770"/>
          </a:xfrm>
        </p:spPr>
        <p:txBody>
          <a:bodyPr>
            <a:normAutofit fontScale="90000"/>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Applications of Underwater Image Enhancement</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99A19AA-ECA9-0034-5833-D1F7BC9E9F9C}"/>
              </a:ext>
            </a:extLst>
          </p:cNvPr>
          <p:cNvSpPr>
            <a:spLocks noGrp="1"/>
          </p:cNvSpPr>
          <p:nvPr>
            <p:ph type="body" idx="1"/>
          </p:nvPr>
        </p:nvSpPr>
        <p:spPr>
          <a:xfrm>
            <a:off x="836425" y="1425039"/>
            <a:ext cx="10914195" cy="1353787"/>
          </a:xfrm>
        </p:spPr>
        <p:txBody>
          <a:bodyPr/>
          <a:lstStyle/>
          <a:p>
            <a:pPr marL="114300" indent="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Enhanced underwater imaging has diverse applications across multiple real-world fields, enabling better visibility, accurate analysis, improved object detection, and enhanced decision-making capability.</a:t>
            </a: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3073AF7-E03C-A31F-B76E-197E129E9A24}"/>
              </a:ext>
            </a:extLst>
          </p:cNvPr>
          <p:cNvSpPr txBox="1"/>
          <p:nvPr/>
        </p:nvSpPr>
        <p:spPr>
          <a:xfrm>
            <a:off x="441380" y="2553195"/>
            <a:ext cx="4807513" cy="1508105"/>
          </a:xfrm>
          <a:prstGeom prst="rect">
            <a:avLst/>
          </a:prstGeom>
          <a:noFill/>
        </p:spPr>
        <p:txBody>
          <a:bodyPr wrap="square" rtlCol="0">
            <a:spAutoFit/>
          </a:bodyPr>
          <a:lstStyle/>
          <a:p>
            <a:pPr algn="ctr"/>
            <a:r>
              <a:rPr lang="en-US" b="1" dirty="0">
                <a:solidFill>
                  <a:schemeClr val="accent1"/>
                </a:solidFill>
                <a:latin typeface="Tahoma" panose="020B0604030504040204" pitchFamily="34" charset="0"/>
                <a:ea typeface="Tahoma" panose="020B0604030504040204" pitchFamily="34" charset="0"/>
                <a:cs typeface="Tahoma" panose="020B0604030504040204" pitchFamily="34" charset="0"/>
              </a:rPr>
              <a:t> </a:t>
            </a:r>
            <a:r>
              <a:rPr lang="en-US" sz="2400" b="1" dirty="0">
                <a:solidFill>
                  <a:schemeClr val="accent1"/>
                </a:solidFill>
                <a:latin typeface="Franklin Gothic Demi" panose="020B0703020102020204" pitchFamily="34" charset="0"/>
                <a:ea typeface="Tahoma" panose="020B0604030504040204" pitchFamily="34" charset="0"/>
                <a:cs typeface="Tahoma" panose="020B0604030504040204" pitchFamily="34" charset="0"/>
              </a:rPr>
              <a:t>Marine Exploration</a:t>
            </a:r>
            <a:endParaRPr lang="en-US" sz="2400" dirty="0">
              <a:solidFill>
                <a:schemeClr val="accent1"/>
              </a:solidFill>
              <a:latin typeface="Franklin Gothic Demi" panose="020B0703020102020204" pitchFamily="34" charset="0"/>
              <a:ea typeface="Tahoma" panose="020B0604030504040204" pitchFamily="34" charset="0"/>
              <a:cs typeface="Tahoma" panose="020B0604030504040204" pitchFamily="34" charset="0"/>
            </a:endParaRP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Study underwater ecosystems, marine biology, and ocean resources with improved visibility and color fidelity.</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B35A5F95-6D8C-28E9-1213-A6CAFB89D57F}"/>
              </a:ext>
            </a:extLst>
          </p:cNvPr>
          <p:cNvSpPr txBox="1"/>
          <p:nvPr/>
        </p:nvSpPr>
        <p:spPr>
          <a:xfrm>
            <a:off x="441381" y="3876634"/>
            <a:ext cx="4263242" cy="1508105"/>
          </a:xfrm>
          <a:prstGeom prst="rect">
            <a:avLst/>
          </a:prstGeom>
          <a:noFill/>
        </p:spPr>
        <p:txBody>
          <a:bodyPr wrap="square" rtlCol="0">
            <a:spAutoFit/>
          </a:bodyPr>
          <a:lstStyle/>
          <a:p>
            <a:pPr algn="ctr"/>
            <a:r>
              <a:rPr lang="en-US" sz="2400" b="1" dirty="0">
                <a:solidFill>
                  <a:schemeClr val="accent1"/>
                </a:solidFill>
                <a:latin typeface="Franklin Gothic Demi" panose="020B0703020102020204" pitchFamily="34" charset="0"/>
                <a:ea typeface="Montserrat Bold" pitchFamily="34" charset="-122"/>
                <a:cs typeface="Montserrat Bold" pitchFamily="34" charset="-120"/>
              </a:rPr>
              <a:t>Surveillance Systems</a:t>
            </a:r>
            <a:endParaRPr lang="en-US" sz="2400" dirty="0">
              <a:solidFill>
                <a:schemeClr val="accent1"/>
              </a:solidFill>
              <a:latin typeface="Franklin Gothic Demi" panose="020B0703020102020204" pitchFamily="34" charset="0"/>
            </a:endParaRP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Underwater object detection, monitoring, and security systems benefit from enhanced image quality</a:t>
            </a:r>
            <a:r>
              <a:rPr lang="en-US" dirty="0">
                <a:solidFill>
                  <a:schemeClr val="tx1"/>
                </a:solidFill>
                <a:latin typeface="Source Sans 3" pitchFamily="34" charset="0"/>
                <a:ea typeface="Source Sans 3" pitchFamily="34" charset="-122"/>
                <a:cs typeface="Source Sans 3" pitchFamily="34" charset="-120"/>
              </a:rPr>
              <a:t>.</a:t>
            </a:r>
            <a:endParaRPr lang="en-US" dirty="0">
              <a:solidFill>
                <a:schemeClr val="tx1"/>
              </a:solidFill>
            </a:endParaRPr>
          </a:p>
          <a:p>
            <a:endParaRPr lang="en-IN" dirty="0"/>
          </a:p>
        </p:txBody>
      </p:sp>
      <p:sp>
        <p:nvSpPr>
          <p:cNvPr id="7" name="TextBox 6">
            <a:extLst>
              <a:ext uri="{FF2B5EF4-FFF2-40B4-BE49-F238E27FC236}">
                <a16:creationId xmlns:a16="http://schemas.microsoft.com/office/drawing/2014/main" id="{901738C0-9BDC-6951-8484-00920BD06B93}"/>
              </a:ext>
            </a:extLst>
          </p:cNvPr>
          <p:cNvSpPr txBox="1"/>
          <p:nvPr/>
        </p:nvSpPr>
        <p:spPr>
          <a:xfrm>
            <a:off x="441380" y="5432961"/>
            <a:ext cx="4653133" cy="1292662"/>
          </a:xfrm>
          <a:prstGeom prst="rect">
            <a:avLst/>
          </a:prstGeom>
          <a:noFill/>
        </p:spPr>
        <p:txBody>
          <a:bodyPr wrap="square" rtlCol="0">
            <a:spAutoFit/>
          </a:bodyPr>
          <a:lstStyle/>
          <a:p>
            <a:pPr algn="ctr"/>
            <a:r>
              <a:rPr lang="en-US" sz="2400" b="1" dirty="0">
                <a:solidFill>
                  <a:schemeClr val="accent1"/>
                </a:solidFill>
                <a:latin typeface="Franklin Gothic Demi" panose="020B0703020102020204" pitchFamily="34" charset="0"/>
                <a:ea typeface="Montserrat Bold" pitchFamily="34" charset="-122"/>
                <a:cs typeface="Montserrat Bold" pitchFamily="34" charset="-120"/>
              </a:rPr>
              <a:t>Underwater Robotic</a:t>
            </a: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Navigation and obstacle detection for autonomous underwater vehicles and robotic systems</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EB2566-6089-E4F8-6AC9-9650D7E7BBA5}"/>
              </a:ext>
            </a:extLst>
          </p:cNvPr>
          <p:cNvSpPr txBox="1"/>
          <p:nvPr/>
        </p:nvSpPr>
        <p:spPr>
          <a:xfrm>
            <a:off x="6087880" y="2596215"/>
            <a:ext cx="5267695" cy="1015663"/>
          </a:xfrm>
          <a:prstGeom prst="rect">
            <a:avLst/>
          </a:prstGeom>
          <a:noFill/>
        </p:spPr>
        <p:txBody>
          <a:bodyPr wrap="square" rtlCol="0">
            <a:spAutoFit/>
          </a:bodyPr>
          <a:lstStyle/>
          <a:p>
            <a:pPr algn="ctr"/>
            <a:r>
              <a:rPr lang="en-US" sz="2400" b="1" dirty="0">
                <a:solidFill>
                  <a:schemeClr val="accent1"/>
                </a:solidFill>
                <a:latin typeface="Franklin Gothic Demi" panose="020B0703020102020204" pitchFamily="34" charset="0"/>
                <a:ea typeface="Montserrat Bold" pitchFamily="34" charset="-122"/>
                <a:cs typeface="Montserrat Bold" pitchFamily="34" charset="-120"/>
              </a:rPr>
              <a:t>Medical Imaging</a:t>
            </a:r>
            <a:endParaRPr lang="en-US" sz="2400" dirty="0">
              <a:solidFill>
                <a:schemeClr val="accent1"/>
              </a:solidFill>
              <a:latin typeface="Franklin Gothic Demi" panose="020B0703020102020204" pitchFamily="34" charset="0"/>
            </a:endParaRP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Enhancement techniques improve visibility in medical scans and diagnostic imaging applications</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27B9779-98B7-FB0F-B1F6-3CA8B35C715F}"/>
              </a:ext>
            </a:extLst>
          </p:cNvPr>
          <p:cNvSpPr txBox="1"/>
          <p:nvPr/>
        </p:nvSpPr>
        <p:spPr>
          <a:xfrm>
            <a:off x="6099958" y="4122854"/>
            <a:ext cx="4959927" cy="1015663"/>
          </a:xfrm>
          <a:prstGeom prst="rect">
            <a:avLst/>
          </a:prstGeom>
          <a:noFill/>
        </p:spPr>
        <p:txBody>
          <a:bodyPr wrap="square" rtlCol="0">
            <a:spAutoFit/>
          </a:bodyPr>
          <a:lstStyle/>
          <a:p>
            <a:pPr algn="ctr"/>
            <a:r>
              <a:rPr lang="en-US" sz="2400" b="1" dirty="0">
                <a:solidFill>
                  <a:schemeClr val="accent1"/>
                </a:solidFill>
                <a:latin typeface="Franklin Gothic Demi" panose="020B0703020102020204" pitchFamily="34" charset="0"/>
                <a:ea typeface="Montserrat Bold" pitchFamily="34" charset="-122"/>
                <a:cs typeface="Montserrat Bold" pitchFamily="34" charset="-120"/>
              </a:rPr>
              <a:t>Remote Sensing</a:t>
            </a:r>
            <a:endParaRPr lang="en-US" sz="2400" dirty="0">
              <a:solidFill>
                <a:schemeClr val="accent1"/>
              </a:solidFill>
              <a:latin typeface="Franklin Gothic Demi" panose="020B0703020102020204" pitchFamily="34" charset="0"/>
            </a:endParaRP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Oceanographic and environmental analysis through satellite and aerial remote sensing plat</a:t>
            </a:r>
            <a:r>
              <a:rPr lang="en-US" sz="1800" dirty="0">
                <a:solidFill>
                  <a:srgbClr val="E2E6E9"/>
                </a:solidFill>
                <a:latin typeface="Times New Roman" panose="02020603050405020304" pitchFamily="18" charset="0"/>
                <a:ea typeface="Source Sans 3" pitchFamily="34" charset="-122"/>
                <a:cs typeface="Times New Roman" panose="02020603050405020304" pitchFamily="18" charset="0"/>
              </a:rPr>
              <a:t>forms</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C334C18-5855-1F4A-B588-AC9A290B6F62}"/>
              </a:ext>
            </a:extLst>
          </p:cNvPr>
          <p:cNvSpPr txBox="1"/>
          <p:nvPr/>
        </p:nvSpPr>
        <p:spPr>
          <a:xfrm>
            <a:off x="6096000" y="5432961"/>
            <a:ext cx="5267695" cy="1446550"/>
          </a:xfrm>
          <a:prstGeom prst="rect">
            <a:avLst/>
          </a:prstGeom>
          <a:noFill/>
        </p:spPr>
        <p:txBody>
          <a:bodyPr wrap="square" rtlCol="0">
            <a:spAutoFit/>
          </a:bodyPr>
          <a:lstStyle/>
          <a:p>
            <a:pPr algn="ctr"/>
            <a:r>
              <a:rPr lang="en-US" sz="2400" b="1" dirty="0">
                <a:solidFill>
                  <a:schemeClr val="accent1"/>
                </a:solidFill>
                <a:latin typeface="Franklin Gothic Demi" panose="020B0703020102020204" pitchFamily="34" charset="0"/>
                <a:ea typeface="Montserrat Bold" pitchFamily="34" charset="-122"/>
                <a:cs typeface="Montserrat Bold" pitchFamily="34" charset="-120"/>
              </a:rPr>
              <a:t>Digital Photography</a:t>
            </a:r>
          </a:p>
          <a:p>
            <a:pPr algn="ctr"/>
            <a:r>
              <a:rPr lang="en-US" sz="1800" dirty="0">
                <a:solidFill>
                  <a:schemeClr val="tx1"/>
                </a:solidFill>
                <a:latin typeface="Times New Roman" panose="02020603050405020304" pitchFamily="18" charset="0"/>
                <a:ea typeface="Source Sans 3" pitchFamily="34" charset="-122"/>
                <a:cs typeface="Times New Roman" panose="02020603050405020304" pitchFamily="18" charset="0"/>
              </a:rPr>
              <a:t>Improved visual quality and color restoration in professional and recreational underwater photography</a:t>
            </a:r>
            <a:r>
              <a:rPr lang="en-US" dirty="0">
                <a:solidFill>
                  <a:schemeClr val="tx1"/>
                </a:solidFill>
                <a:latin typeface="Source Sans 3" pitchFamily="34" charset="0"/>
                <a:ea typeface="Source Sans 3" pitchFamily="34" charset="-122"/>
                <a:cs typeface="Source Sans 3" pitchFamily="34" charset="-120"/>
              </a:rPr>
              <a:t>.</a:t>
            </a:r>
            <a:endParaRPr lang="en-US" dirty="0">
              <a:solidFill>
                <a:schemeClr val="tx1"/>
              </a:solidFill>
            </a:endParaRPr>
          </a:p>
          <a:p>
            <a:endParaRPr lang="en-US" dirty="0">
              <a:solidFill>
                <a:schemeClr val="tx1"/>
              </a:solidFill>
            </a:endParaRPr>
          </a:p>
          <a:p>
            <a:endParaRPr lang="en-IN" dirty="0"/>
          </a:p>
        </p:txBody>
      </p:sp>
    </p:spTree>
    <p:extLst>
      <p:ext uri="{BB962C8B-B14F-4D97-AF65-F5344CB8AC3E}">
        <p14:creationId xmlns:p14="http://schemas.microsoft.com/office/powerpoint/2010/main" val="1085561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360D-0CED-FA0D-903B-31FEA3DD3B85}"/>
              </a:ext>
            </a:extLst>
          </p:cNvPr>
          <p:cNvSpPr>
            <a:spLocks noGrp="1"/>
          </p:cNvSpPr>
          <p:nvPr>
            <p:ph type="title"/>
          </p:nvPr>
        </p:nvSpPr>
        <p:spPr>
          <a:xfrm>
            <a:off x="245834" y="1051413"/>
            <a:ext cx="13274209" cy="872390"/>
          </a:xfrm>
        </p:spPr>
        <p:txBody>
          <a:bodyPr>
            <a:normAutofit fontScale="90000"/>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Conclusion &amp; Future Scope</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B2B55AE-E340-4D98-A030-C7B065F2740A}"/>
              </a:ext>
            </a:extLst>
          </p:cNvPr>
          <p:cNvSpPr>
            <a:spLocks noGrp="1"/>
          </p:cNvSpPr>
          <p:nvPr>
            <p:ph type="body" idx="1"/>
          </p:nvPr>
        </p:nvSpPr>
        <p:spPr>
          <a:xfrm>
            <a:off x="245834" y="1793175"/>
            <a:ext cx="6998114" cy="4690753"/>
          </a:xfrm>
        </p:spPr>
        <p:txBody>
          <a:bodyPr>
            <a:normAutofit fontScale="92500"/>
          </a:bodyPr>
          <a:lstStyle/>
          <a:p>
            <a:pPr marL="114300" indent="0">
              <a:buNone/>
            </a:pPr>
            <a:r>
              <a:rPr lang="en-US" sz="3000" b="1" dirty="0">
                <a:solidFill>
                  <a:schemeClr val="accent5">
                    <a:lumMod val="50000"/>
                  </a:schemeClr>
                </a:solidFill>
                <a:latin typeface="Times New Roman" panose="02020603050405020304" pitchFamily="18" charset="0"/>
                <a:ea typeface="Montserrat Bold" pitchFamily="34" charset="-122"/>
                <a:cs typeface="Times New Roman" panose="02020603050405020304" pitchFamily="18" charset="0"/>
              </a:rPr>
              <a:t>#  Conclusion </a:t>
            </a:r>
          </a:p>
          <a:p>
            <a:pPr marL="114300" indent="0">
              <a:buNone/>
            </a:pPr>
            <a:endParaRPr lang="en-US" sz="3000" b="1" dirty="0">
              <a:solidFill>
                <a:schemeClr val="accent5">
                  <a:lumMod val="50000"/>
                </a:schemeClr>
              </a:solidFill>
              <a:latin typeface="Times New Roman" panose="02020603050405020304" pitchFamily="18" charset="0"/>
              <a:ea typeface="Montserrat Bold" pitchFamily="34" charset="-122"/>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Framework successfully enhances low contrast underwater images</a:t>
            </a:r>
          </a:p>
          <a:p>
            <a:pPr marL="342900">
              <a:lnSpc>
                <a:spcPts val="1100"/>
              </a:lnSpc>
              <a:buSzPct val="100000"/>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Color correction restores natural appearance effectively</a:t>
            </a:r>
          </a:p>
          <a:p>
            <a:pPr marL="342900">
              <a:lnSpc>
                <a:spcPts val="1100"/>
              </a:lnSpc>
              <a:buSzPct val="100000"/>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Detail sharpening improves edge clarity and structural visibility</a:t>
            </a:r>
          </a:p>
          <a:p>
            <a:pPr marL="342900">
              <a:lnSpc>
                <a:spcPts val="1100"/>
              </a:lnSpc>
              <a:buSzPct val="100000"/>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Contrast enhancement techniques significantly improve visibility</a:t>
            </a:r>
          </a:p>
          <a:p>
            <a:pPr marL="342900">
              <a:lnSpc>
                <a:spcPts val="1100"/>
              </a:lnSpc>
              <a:buSzPct val="100000"/>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CLAHE produced best enhancement results among classical</a:t>
            </a:r>
          </a:p>
          <a:p>
            <a:pPr marL="0" indent="0">
              <a:lnSpc>
                <a:spcPts val="1100"/>
              </a:lnSpc>
              <a:buSzPct val="10000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methods</a:t>
            </a:r>
          </a:p>
          <a:p>
            <a:pPr marL="342900">
              <a:lnSpc>
                <a:spcPts val="1100"/>
              </a:lnSpc>
              <a:buSzPct val="100000"/>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ts val="1100"/>
              </a:lnSpc>
              <a:buSzPct val="100000"/>
              <a:buNone/>
            </a:pPr>
            <a:r>
              <a:rPr lang="en-US" sz="2400" dirty="0">
                <a:solidFill>
                  <a:schemeClr val="tx1"/>
                </a:solidFill>
                <a:latin typeface="Times New Roman" panose="02020603050405020304" pitchFamily="18" charset="0"/>
                <a:ea typeface="Source Sans 3" pitchFamily="34" charset="-122"/>
                <a:cs typeface="Times New Roman" panose="02020603050405020304" pitchFamily="18" charset="0"/>
              </a:rPr>
              <a:t>&gt;</a:t>
            </a: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 Framework preserves important visual information while reducing</a:t>
            </a:r>
          </a:p>
          <a:p>
            <a:pPr marL="0" indent="0">
              <a:lnSpc>
                <a:spcPts val="1100"/>
              </a:lnSpc>
              <a:buSzPct val="100000"/>
              <a:buNone/>
            </a:pPr>
            <a:r>
              <a:rPr lang="en-US" sz="2000" dirty="0">
                <a:solidFill>
                  <a:schemeClr val="tx1"/>
                </a:solidFill>
                <a:latin typeface="Times New Roman" panose="02020603050405020304" pitchFamily="18" charset="0"/>
                <a:ea typeface="Source Sans 3" pitchFamily="34" charset="-122"/>
                <a:cs typeface="Times New Roman" panose="02020603050405020304" pitchFamily="18" charset="0"/>
              </a:rPr>
              <a:t>distortions</a:t>
            </a:r>
            <a:endParaRPr lang="en-US" sz="2000" dirty="0">
              <a:solidFill>
                <a:schemeClr val="tx1"/>
              </a:solidFill>
              <a:latin typeface="Times New Roman" panose="02020603050405020304" pitchFamily="18" charset="0"/>
              <a:cs typeface="Times New Roman" panose="02020603050405020304" pitchFamily="18" charset="0"/>
            </a:endParaRPr>
          </a:p>
          <a:p>
            <a:endParaRPr lang="en-IN" dirty="0"/>
          </a:p>
        </p:txBody>
      </p:sp>
      <p:pic>
        <p:nvPicPr>
          <p:cNvPr id="5" name="Picture 4" descr="Natural Color for Your Underwater Videos -">
            <a:extLst>
              <a:ext uri="{FF2B5EF4-FFF2-40B4-BE49-F238E27FC236}">
                <a16:creationId xmlns:a16="http://schemas.microsoft.com/office/drawing/2014/main" id="{E17B1EFE-852A-DCCB-62D9-EF67D1F1D11D}"/>
              </a:ext>
            </a:extLst>
          </p:cNvPr>
          <p:cNvPicPr>
            <a:picLocks noChangeAspect="1"/>
          </p:cNvPicPr>
          <p:nvPr/>
        </p:nvPicPr>
        <p:blipFill>
          <a:blip r:embed="rId2"/>
          <a:stretch>
            <a:fillRect/>
          </a:stretch>
        </p:blipFill>
        <p:spPr>
          <a:xfrm>
            <a:off x="7243948" y="2576947"/>
            <a:ext cx="4619091" cy="3716530"/>
          </a:xfrm>
          <a:prstGeom prst="rect">
            <a:avLst/>
          </a:prstGeom>
        </p:spPr>
      </p:pic>
    </p:spTree>
    <p:extLst>
      <p:ext uri="{BB962C8B-B14F-4D97-AF65-F5344CB8AC3E}">
        <p14:creationId xmlns:p14="http://schemas.microsoft.com/office/powerpoint/2010/main" val="2195995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8E5F-7215-D4A1-971B-6298DF73EEFB}"/>
              </a:ext>
            </a:extLst>
          </p:cNvPr>
          <p:cNvSpPr>
            <a:spLocks noGrp="1"/>
          </p:cNvSpPr>
          <p:nvPr>
            <p:ph type="title"/>
          </p:nvPr>
        </p:nvSpPr>
        <p:spPr>
          <a:xfrm>
            <a:off x="237507" y="932659"/>
            <a:ext cx="11514888" cy="1325563"/>
          </a:xfrm>
        </p:spPr>
        <p:txBody>
          <a:bodyPr/>
          <a:lstStyle/>
          <a:p>
            <a:r>
              <a:rPr lang="en-US" b="1" dirty="0">
                <a:solidFill>
                  <a:schemeClr val="tx1"/>
                </a:solidFill>
                <a:latin typeface="Times New Roman" panose="02020603050405020304" pitchFamily="18" charset="0"/>
                <a:ea typeface="Montserrat Bold" pitchFamily="34" charset="-122"/>
                <a:cs typeface="Times New Roman" panose="02020603050405020304" pitchFamily="18" charset="0"/>
              </a:rPr>
              <a:t>Future Scope</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3D012C4-24A7-B611-7065-EDDC1B23D768}"/>
              </a:ext>
            </a:extLst>
          </p:cNvPr>
          <p:cNvSpPr>
            <a:spLocks noGrp="1"/>
          </p:cNvSpPr>
          <p:nvPr>
            <p:ph type="body" idx="1"/>
          </p:nvPr>
        </p:nvSpPr>
        <p:spPr>
          <a:xfrm>
            <a:off x="142504" y="1745673"/>
            <a:ext cx="12049496" cy="5112327"/>
          </a:xfrm>
        </p:spPr>
        <p:txBody>
          <a:bodyPr>
            <a:normAutofit fontScale="47500" lnSpcReduction="20000"/>
          </a:bodyPr>
          <a:lstStyle/>
          <a:p>
            <a:pPr marL="114300" indent="0">
              <a:buNone/>
            </a:pPr>
            <a:r>
              <a:rPr lang="en-US" sz="4200" b="1" dirty="0">
                <a:solidFill>
                  <a:schemeClr val="bg2"/>
                </a:solidFill>
                <a:latin typeface="Times New Roman" panose="02020603050405020304" pitchFamily="18" charset="0"/>
                <a:cs typeface="Times New Roman" panose="02020603050405020304" pitchFamily="18" charset="0"/>
              </a:rPr>
              <a:t>&lt;&gt; AI &amp; Deep Learning Integration</a:t>
            </a:r>
          </a:p>
          <a:p>
            <a:pPr marL="114300" indent="0">
              <a:buNone/>
            </a:pPr>
            <a:r>
              <a:rPr lang="en-US" sz="4200" dirty="0">
                <a:latin typeface="Times New Roman" panose="02020603050405020304" pitchFamily="18" charset="0"/>
                <a:cs typeface="Times New Roman" panose="02020603050405020304" pitchFamily="18" charset="0"/>
              </a:rPr>
              <a:t>Convolutional Neural Networks (CNN) and Generative Adversarial Networks (GAN) based enhancement models for superior results.</a:t>
            </a:r>
          </a:p>
          <a:p>
            <a:pPr marL="114300" indent="0">
              <a:buNone/>
            </a:pPr>
            <a:endParaRPr lang="en-US" sz="4200" dirty="0">
              <a:latin typeface="Times New Roman" panose="02020603050405020304" pitchFamily="18" charset="0"/>
              <a:cs typeface="Times New Roman" panose="02020603050405020304" pitchFamily="18" charset="0"/>
            </a:endParaRPr>
          </a:p>
          <a:p>
            <a:pPr marL="114300" indent="0">
              <a:buNone/>
            </a:pPr>
            <a:r>
              <a:rPr lang="en-IN" sz="4200" b="1" dirty="0">
                <a:solidFill>
                  <a:schemeClr val="bg2"/>
                </a:solidFill>
                <a:latin typeface="Times New Roman" panose="02020603050405020304" pitchFamily="18" charset="0"/>
                <a:cs typeface="Times New Roman" panose="02020603050405020304" pitchFamily="18" charset="0"/>
              </a:rPr>
              <a:t>&lt;&gt; Real-Time Enhancement Systems</a:t>
            </a:r>
          </a:p>
          <a:p>
            <a:pPr marL="114300" indent="0">
              <a:buNone/>
            </a:pPr>
            <a:r>
              <a:rPr lang="en-IN" sz="4200" dirty="0">
                <a:latin typeface="Times New Roman" panose="02020603050405020304" pitchFamily="18" charset="0"/>
                <a:cs typeface="Times New Roman" panose="02020603050405020304" pitchFamily="18" charset="0"/>
              </a:rPr>
              <a:t>Faster processing for underwater robotics, surveillance, and live monitoring applications.</a:t>
            </a:r>
          </a:p>
          <a:p>
            <a:pPr marL="114300" indent="0">
              <a:buNone/>
            </a:pPr>
            <a:endParaRPr lang="en-IN" sz="4200" dirty="0">
              <a:latin typeface="Times New Roman" panose="02020603050405020304" pitchFamily="18" charset="0"/>
              <a:cs typeface="Times New Roman" panose="02020603050405020304" pitchFamily="18" charset="0"/>
            </a:endParaRPr>
          </a:p>
          <a:p>
            <a:pPr marL="114300" indent="0">
              <a:buNone/>
            </a:pPr>
            <a:r>
              <a:rPr lang="en-IN" sz="4200" b="1" dirty="0">
                <a:solidFill>
                  <a:schemeClr val="bg2"/>
                </a:solidFill>
                <a:latin typeface="Times New Roman" panose="02020603050405020304" pitchFamily="18" charset="0"/>
                <a:cs typeface="Times New Roman" panose="02020603050405020304" pitchFamily="18" charset="0"/>
              </a:rPr>
              <a:t>&lt;&gt; Automated Restoration Frameworks</a:t>
            </a:r>
          </a:p>
          <a:p>
            <a:pPr marL="114300" indent="0">
              <a:buNone/>
            </a:pPr>
            <a:r>
              <a:rPr lang="en-IN" sz="4200" dirty="0">
                <a:latin typeface="Times New Roman" panose="02020603050405020304" pitchFamily="18" charset="0"/>
                <a:cs typeface="Times New Roman" panose="02020603050405020304" pitchFamily="18" charset="0"/>
              </a:rPr>
              <a:t>Self-adaptive enhancement systems that automatically optimize parameters for different underwater conditions.</a:t>
            </a:r>
          </a:p>
          <a:p>
            <a:pPr marL="114300" indent="0">
              <a:buNone/>
            </a:pPr>
            <a:endParaRPr lang="en-IN" sz="4200" dirty="0">
              <a:latin typeface="Times New Roman" panose="02020603050405020304" pitchFamily="18" charset="0"/>
              <a:cs typeface="Times New Roman" panose="02020603050405020304" pitchFamily="18" charset="0"/>
            </a:endParaRPr>
          </a:p>
          <a:p>
            <a:pPr marL="114300" indent="0">
              <a:buNone/>
            </a:pPr>
            <a:r>
              <a:rPr lang="en-IN" sz="4200" b="1" dirty="0">
                <a:solidFill>
                  <a:schemeClr val="bg2"/>
                </a:solidFill>
                <a:latin typeface="Times New Roman" panose="02020603050405020304" pitchFamily="18" charset="0"/>
                <a:cs typeface="Times New Roman" panose="02020603050405020304" pitchFamily="18" charset="0"/>
              </a:rPr>
              <a:t>&lt;&gt; Hybrid Enhancement Techniques</a:t>
            </a:r>
          </a:p>
          <a:p>
            <a:pPr marL="114300" indent="0">
              <a:buNone/>
            </a:pPr>
            <a:r>
              <a:rPr lang="en-IN" sz="4200" dirty="0">
                <a:latin typeface="Times New Roman" panose="02020603050405020304" pitchFamily="18" charset="0"/>
                <a:cs typeface="Times New Roman" panose="02020603050405020304" pitchFamily="18" charset="0"/>
              </a:rPr>
              <a:t>Combination of classical image processing methods with deep learning approaches for optimal performance.</a:t>
            </a:r>
          </a:p>
          <a:p>
            <a:pPr marL="114300" indent="0">
              <a:buNone/>
            </a:pPr>
            <a:endParaRPr lang="en-US" sz="4200" b="1" dirty="0">
              <a:latin typeface="Times New Roman" panose="02020603050405020304" pitchFamily="18" charset="0"/>
              <a:cs typeface="Times New Roman" panose="02020603050405020304" pitchFamily="18" charset="0"/>
            </a:endParaRPr>
          </a:p>
          <a:p>
            <a:pPr marL="114300" indent="0">
              <a:buNone/>
            </a:pPr>
            <a:r>
              <a:rPr lang="en-US" sz="4200" b="1" dirty="0">
                <a:solidFill>
                  <a:schemeClr val="bg2"/>
                </a:solidFill>
                <a:latin typeface="Times New Roman" panose="02020603050405020304" pitchFamily="18" charset="0"/>
                <a:cs typeface="Times New Roman" panose="02020603050405020304" pitchFamily="18" charset="0"/>
              </a:rPr>
              <a:t>&lt;&gt; Advanced Quality Evaluation</a:t>
            </a:r>
          </a:p>
          <a:p>
            <a:pPr marL="114300" indent="0">
              <a:buNone/>
            </a:pPr>
            <a:r>
              <a:rPr lang="en-US" sz="4200" dirty="0">
                <a:latin typeface="Times New Roman" panose="02020603050405020304" pitchFamily="18" charset="0"/>
                <a:cs typeface="Times New Roman" panose="02020603050405020304" pitchFamily="18" charset="0"/>
              </a:rPr>
              <a:t>AI-driven quality assessment techniques using machine learning for objective performance measurement.</a:t>
            </a:r>
          </a:p>
          <a:p>
            <a:pPr marL="114300" indent="0">
              <a:buNone/>
            </a:pPr>
            <a:endParaRPr lang="en-IN"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245843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0205-56A4-4153-9661-AFA578BAFC38}"/>
              </a:ext>
            </a:extLst>
          </p:cNvPr>
          <p:cNvSpPr>
            <a:spLocks noGrp="1"/>
          </p:cNvSpPr>
          <p:nvPr>
            <p:ph type="title"/>
          </p:nvPr>
        </p:nvSpPr>
        <p:spPr>
          <a:xfrm>
            <a:off x="380011" y="932659"/>
            <a:ext cx="11372384" cy="860515"/>
          </a:xfrm>
        </p:spPr>
        <p:txBody>
          <a:bodyPr/>
          <a:lstStyle/>
          <a:p>
            <a:r>
              <a:rPr lang="en-IN" b="1" dirty="0">
                <a:latin typeface="Times New Roman" panose="02020603050405020304" pitchFamily="18" charset="0"/>
                <a:cs typeface="Times New Roman" panose="02020603050405020304" pitchFamily="18" charset="0"/>
              </a:rPr>
              <a:t>Publication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D184599-C51B-F666-1A3A-3059480FFF20}"/>
              </a:ext>
            </a:extLst>
          </p:cNvPr>
          <p:cNvSpPr>
            <a:spLocks noGrp="1"/>
          </p:cNvSpPr>
          <p:nvPr>
            <p:ph type="body" idx="1"/>
          </p:nvPr>
        </p:nvSpPr>
        <p:spPr>
          <a:xfrm>
            <a:off x="378237" y="1793174"/>
            <a:ext cx="11433752" cy="5064826"/>
          </a:xfrm>
        </p:spPr>
        <p:txBody>
          <a:bodyPr>
            <a:normAutofit/>
          </a:bodyPr>
          <a:lstStyle/>
          <a:p>
            <a:pPr marL="114300" indent="0">
              <a:buNone/>
            </a:pPr>
            <a:r>
              <a:rPr lang="en-IN" dirty="0">
                <a:latin typeface="Times New Roman" panose="02020603050405020304" pitchFamily="18" charset="0"/>
                <a:cs typeface="Times New Roman" panose="02020603050405020304" pitchFamily="18" charset="0"/>
              </a:rPr>
              <a:t>&gt; Conference: International Conference on Intelligent Computing, Control &amp; Communication (ICICCC2026).</a:t>
            </a:r>
          </a:p>
          <a:p>
            <a:pPr marL="114300" indent="0">
              <a:buNone/>
            </a:pPr>
            <a:r>
              <a:rPr lang="en-IN" dirty="0">
                <a:latin typeface="Times New Roman" panose="02020603050405020304" pitchFamily="18" charset="0"/>
                <a:cs typeface="Times New Roman" panose="02020603050405020304" pitchFamily="18" charset="0"/>
              </a:rPr>
              <a:t>&gt; Track:</a:t>
            </a:r>
            <a:r>
              <a:rPr lang="en-US" dirty="0">
                <a:latin typeface="Times New Roman" panose="02020603050405020304" pitchFamily="18" charset="0"/>
                <a:cs typeface="Times New Roman" panose="02020603050405020304" pitchFamily="18" charset="0"/>
              </a:rPr>
              <a:t> Artificial Intelligence and Expert Systems</a:t>
            </a:r>
          </a:p>
          <a:p>
            <a:pPr marL="114300" indent="0">
              <a:buNone/>
            </a:pPr>
            <a:r>
              <a:rPr lang="en-IN" dirty="0">
                <a:latin typeface="Times New Roman" panose="02020603050405020304" pitchFamily="18" charset="0"/>
                <a:cs typeface="Times New Roman" panose="02020603050405020304" pitchFamily="18" charset="0"/>
              </a:rPr>
              <a:t>&gt; Paper ID: 470</a:t>
            </a:r>
          </a:p>
          <a:p>
            <a:pPr marL="114300" indent="0">
              <a:buNone/>
            </a:pPr>
            <a:r>
              <a:rPr lang="en-IN" dirty="0">
                <a:latin typeface="Times New Roman" panose="02020603050405020304" pitchFamily="18" charset="0"/>
                <a:cs typeface="Times New Roman" panose="02020603050405020304" pitchFamily="18" charset="0"/>
              </a:rPr>
              <a:t>&gt; Paper Title: Comparative analysis of classical image  enhancement techniques for low contrast images</a:t>
            </a:r>
          </a:p>
          <a:p>
            <a:pPr marL="114300" indent="0">
              <a:buNone/>
            </a:pPr>
            <a:r>
              <a:rPr lang="en-IN" dirty="0">
                <a:latin typeface="Times New Roman" panose="02020603050405020304" pitchFamily="18" charset="0"/>
                <a:cs typeface="Times New Roman" panose="02020603050405020304" pitchFamily="18" charset="0"/>
              </a:rPr>
              <a:t>&gt; Status: Submitted</a:t>
            </a:r>
          </a:p>
          <a:p>
            <a:pPr marL="114300" indent="0">
              <a:buNone/>
            </a:pPr>
            <a:r>
              <a:rPr lang="en-IN" dirty="0">
                <a:latin typeface="Times New Roman" panose="02020603050405020304" pitchFamily="18" charset="0"/>
                <a:cs typeface="Times New Roman" panose="02020603050405020304" pitchFamily="18" charset="0"/>
              </a:rPr>
              <a:t>&gt; Submission link: </a:t>
            </a:r>
            <a:r>
              <a:rPr lang="en-IN" dirty="0">
                <a:latin typeface="Times New Roman" panose="02020603050405020304" pitchFamily="18" charset="0"/>
                <a:cs typeface="Times New Roman" panose="02020603050405020304" pitchFamily="18" charset="0"/>
                <a:hlinkClick r:id="rId2"/>
              </a:rPr>
              <a:t>https://www.iciccc.in/</a:t>
            </a:r>
            <a:br>
              <a:rPr lang="en-US" dirty="0"/>
            </a:br>
            <a:endParaRPr lang="en-IN" dirty="0"/>
          </a:p>
          <a:p>
            <a:pPr marL="114300" indent="0">
              <a:buNone/>
            </a:pPr>
            <a:endParaRPr lang="en-US" sz="2000" dirty="0">
              <a:latin typeface="Times New Roman" panose="02020603050405020304" pitchFamily="18" charset="0"/>
              <a:cs typeface="Times New Roman" panose="02020603050405020304" pitchFamily="18" charset="0"/>
            </a:endParaRP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endParaRPr lang="en-IN" dirty="0"/>
          </a:p>
          <a:p>
            <a:pPr marL="114300" lvl="0" indent="0">
              <a:buNone/>
            </a:pPr>
            <a:endParaRPr lang="en-IN" dirty="0"/>
          </a:p>
          <a:p>
            <a:pPr marL="114300" indent="0">
              <a:buNone/>
            </a:pPr>
            <a:endParaRPr lang="en-IN" dirty="0"/>
          </a:p>
        </p:txBody>
      </p:sp>
    </p:spTree>
    <p:extLst>
      <p:ext uri="{BB962C8B-B14F-4D97-AF65-F5344CB8AC3E}">
        <p14:creationId xmlns:p14="http://schemas.microsoft.com/office/powerpoint/2010/main" val="2626733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651711" y="1704474"/>
            <a:ext cx="10879230" cy="344905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19900"/>
              <a:buFont typeface="Pinyon Script"/>
              <a:buNone/>
            </a:pPr>
            <a:r>
              <a:rPr lang="en-US" sz="199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ahoma" panose="020B0604030504040204" pitchFamily="34" charset="0"/>
                <a:cs typeface="Times New Roman" panose="02020603050405020304" pitchFamily="18" charset="0"/>
                <a:sym typeface="Pinyon Script"/>
              </a:rPr>
              <a:t>Thank You</a:t>
            </a:r>
            <a:endParaRPr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1399</TotalTime>
  <Words>1279</Words>
  <Application>Microsoft Office PowerPoint</Application>
  <PresentationFormat>Widescreen</PresentationFormat>
  <Paragraphs>203</Paragraphs>
  <Slides>17</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17</vt:i4>
      </vt:variant>
    </vt:vector>
  </HeadingPairs>
  <TitlesOfParts>
    <vt:vector size="32" baseType="lpstr">
      <vt:lpstr>Pinyon Script</vt:lpstr>
      <vt:lpstr>Times New Roman</vt:lpstr>
      <vt:lpstr>Franklin Gothic Demi</vt:lpstr>
      <vt:lpstr>Dubai Medium</vt:lpstr>
      <vt:lpstr>Calibri</vt:lpstr>
      <vt:lpstr>Cambria Math</vt:lpstr>
      <vt:lpstr>Montserrat Bold</vt:lpstr>
      <vt:lpstr>Dubai</vt:lpstr>
      <vt:lpstr>Arial Black</vt:lpstr>
      <vt:lpstr>Tahoma</vt:lpstr>
      <vt:lpstr>Source Sans 3</vt:lpstr>
      <vt:lpstr>Rockwell Extra Bold</vt:lpstr>
      <vt:lpstr>Arial</vt:lpstr>
      <vt:lpstr>Play</vt:lpstr>
      <vt:lpstr>Office Theme</vt:lpstr>
      <vt:lpstr>School of Computer Science and Engineering B.Tech (CSE) 4th Semester</vt:lpstr>
      <vt:lpstr> Abstract</vt:lpstr>
      <vt:lpstr>Introduction &amp; Challenges in Underwater Imaging </vt:lpstr>
      <vt:lpstr>Literature </vt:lpstr>
      <vt:lpstr>PowerPoint Presentation</vt:lpstr>
      <vt:lpstr>Color Correction</vt:lpstr>
      <vt:lpstr>Detail Sharpening Techniques </vt:lpstr>
      <vt:lpstr>Contrast Enhancement &amp; Methodology</vt:lpstr>
      <vt:lpstr>Gamma Correction </vt:lpstr>
      <vt:lpstr>Implementation</vt:lpstr>
      <vt:lpstr>Results &amp; Performance Analysis </vt:lpstr>
      <vt:lpstr>Performance Evaluation Metrics </vt:lpstr>
      <vt:lpstr>Applications of Underwater Image Enhancement </vt:lpstr>
      <vt:lpstr>Conclusion &amp; Future Scope </vt:lpstr>
      <vt:lpstr>Future Scope </vt:lpstr>
      <vt:lpstr>Publication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Computer Science and Engineering B.Tech (CSE) ….. Semester</dc:title>
  <dc:creator>Anil Saroliya</dc:creator>
  <cp:lastModifiedBy>Ayush Solanki</cp:lastModifiedBy>
  <cp:revision>5</cp:revision>
  <dcterms:created xsi:type="dcterms:W3CDTF">2025-07-19T19:52:25Z</dcterms:created>
  <dcterms:modified xsi:type="dcterms:W3CDTF">2026-10-27T16:50:01Z</dcterms:modified>
</cp:coreProperties>
</file>